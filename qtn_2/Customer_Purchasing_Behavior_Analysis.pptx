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9" r:id="rId3"/>
    <p:sldId id="281" r:id="rId4"/>
    <p:sldId id="258" r:id="rId5"/>
    <p:sldId id="282" r:id="rId6"/>
    <p:sldId id="259" r:id="rId7"/>
    <p:sldId id="260" r:id="rId8"/>
    <p:sldId id="261" r:id="rId9"/>
    <p:sldId id="262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8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1428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32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59228" y="457200"/>
            <a:ext cx="822960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rPr dirty="0">
                <a:latin typeface="Consolas" panose="020B0609020204030204" pitchFamily="49" charset="0"/>
              </a:rPr>
              <a:t>Customer Purchasing Behavior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9228" y="2736502"/>
            <a:ext cx="82296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C8DCFF"/>
                </a:solidFill>
              </a:defRPr>
            </a:pPr>
            <a:r>
              <a:rPr dirty="0">
                <a:latin typeface="Consolas" panose="020B0609020204030204" pitchFamily="49" charset="0"/>
              </a:rPr>
              <a:t>Machine Learning Analysis of Customer Segmentation</a:t>
            </a:r>
            <a:br>
              <a:rPr dirty="0">
                <a:latin typeface="Consolas" panose="020B0609020204030204" pitchFamily="49" charset="0"/>
              </a:rPr>
            </a:br>
            <a:r>
              <a:rPr dirty="0">
                <a:latin typeface="Consolas" panose="020B0609020204030204" pitchFamily="49" charset="0"/>
              </a:rPr>
              <a:t>Data-Driven Business Insights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22737B-AFD3-4323-AD80-40D279BCB4C8}"/>
              </a:ext>
            </a:extLst>
          </p:cNvPr>
          <p:cNvSpPr txBox="1"/>
          <p:nvPr/>
        </p:nvSpPr>
        <p:spPr>
          <a:xfrm>
            <a:off x="0" y="5131360"/>
            <a:ext cx="8229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C8DCFF"/>
                </a:solidFill>
              </a:defRPr>
            </a:pPr>
            <a:r>
              <a:rPr lang="en-US" dirty="0">
                <a:latin typeface="Consolas" panose="020B0609020204030204" pitchFamily="49" charset="0"/>
              </a:rPr>
              <a:t>ARINEITWE THOMAS</a:t>
            </a:r>
            <a:endParaRPr dirty="0"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2C8-9499-4B7D-8E52-59A525C660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813933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Consolas" panose="020B0609020204030204" pitchFamily="49" charset="0"/>
              </a:rPr>
              <a:t>Assignment overview</a:t>
            </a:r>
            <a:endParaRPr lang="en-UG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0DD79-FD36-49D7-9A33-069CEBFB8C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7714" y="1012371"/>
            <a:ext cx="8784772" cy="57585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chemeClr val="bg1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This comprehensive analysis examines customer purchasing patterns from a UK-based online retail dataset using advanced machine learning techniques. The assignment integrates three major analytical approaches: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solidFill>
                  <a:schemeClr val="bg1">
                    <a:lumMod val="75000"/>
                  </a:schemeClr>
                </a:solidFill>
                <a:latin typeface="Consolas" panose="020B0609020204030204" pitchFamily="49" charset="0"/>
              </a:rPr>
              <a:t>Customer Clustering: Segment customers based on purchasing behavior 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solidFill>
                  <a:schemeClr val="bg1">
                    <a:lumMod val="75000"/>
                  </a:schemeClr>
                </a:solidFill>
                <a:latin typeface="Consolas" panose="020B0609020204030204" pitchFamily="49" charset="0"/>
              </a:rPr>
              <a:t>Deep Learning Embeddings: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solidFill>
                  <a:schemeClr val="bg1">
                    <a:lumMod val="75000"/>
                  </a:schemeClr>
                </a:solidFill>
                <a:latin typeface="Consolas" panose="020B0609020204030204" pitchFamily="49" charset="0"/>
              </a:rPr>
              <a:t>Association Rule Mining</a:t>
            </a:r>
          </a:p>
          <a:p>
            <a:pPr>
              <a:buFont typeface="+mj-lt"/>
              <a:buAutoNum type="arabicPeriod"/>
            </a:pPr>
            <a:endParaRPr lang="en-US" sz="1800" dirty="0">
              <a:solidFill>
                <a:schemeClr val="bg1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800" b="1" dirty="0">
                <a:solidFill>
                  <a:schemeClr val="bg1">
                    <a:lumMod val="75000"/>
                  </a:schemeClr>
                </a:solidFill>
                <a:latin typeface="Consolas" panose="020B0609020204030204" pitchFamily="49" charset="0"/>
              </a:rPr>
              <a:t>Objective</a:t>
            </a:r>
            <a:r>
              <a:rPr lang="en-US" sz="1800" dirty="0">
                <a:solidFill>
                  <a:schemeClr val="bg1">
                    <a:lumMod val="75000"/>
                  </a:schemeClr>
                </a:solidFill>
                <a:latin typeface="Consolas" panose="020B0609020204030204" pitchFamily="49" charset="0"/>
              </a:rPr>
              <a:t>: analyze customer purchasing behavior to create marketing insights using clustering, deep embeddings, and association rules.</a:t>
            </a:r>
          </a:p>
          <a:p>
            <a:pPr marL="0" indent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b="1" dirty="0">
                <a:solidFill>
                  <a:schemeClr val="bg1">
                    <a:lumMod val="75000"/>
                  </a:schemeClr>
                </a:solidFill>
                <a:latin typeface="Consolas" panose="020B0609020204030204" pitchFamily="49" charset="0"/>
              </a:rPr>
              <a:t>The assignment requires the following components:</a:t>
            </a:r>
            <a:endParaRPr lang="en-UG" sz="1800" b="1" dirty="0">
              <a:solidFill>
                <a:schemeClr val="bg1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lvl="0">
              <a:lnSpc>
                <a:spcPct val="115000"/>
              </a:lnSpc>
              <a:tabLst>
                <a:tab pos="228600" algn="l"/>
              </a:tabLst>
            </a:pPr>
            <a:r>
              <a:rPr lang="en-US" sz="1800" dirty="0">
                <a:solidFill>
                  <a:schemeClr val="bg1">
                    <a:lumMod val="75000"/>
                  </a:schemeClr>
                </a:solidFill>
                <a:latin typeface="Consolas" panose="020B0609020204030204" pitchFamily="49" charset="0"/>
              </a:rPr>
              <a:t>Data Cleaning and Clustering.</a:t>
            </a:r>
            <a:endParaRPr lang="en-UG" sz="1800" dirty="0">
              <a:solidFill>
                <a:schemeClr val="bg1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lvl="0">
              <a:lnSpc>
                <a:spcPct val="115000"/>
              </a:lnSpc>
              <a:tabLst>
                <a:tab pos="228600" algn="l"/>
              </a:tabLst>
            </a:pPr>
            <a:r>
              <a:rPr lang="en-US" sz="1800" dirty="0">
                <a:solidFill>
                  <a:schemeClr val="bg1">
                    <a:lumMod val="75000"/>
                  </a:schemeClr>
                </a:solidFill>
                <a:latin typeface="Consolas" panose="020B0609020204030204" pitchFamily="49" charset="0"/>
              </a:rPr>
              <a:t>Deep Embedding Clustering.</a:t>
            </a:r>
            <a:endParaRPr lang="en-UG" sz="1800" dirty="0">
              <a:solidFill>
                <a:schemeClr val="bg1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lvl="0">
              <a:lnSpc>
                <a:spcPct val="115000"/>
              </a:lnSpc>
              <a:tabLst>
                <a:tab pos="228600" algn="l"/>
              </a:tabLst>
            </a:pPr>
            <a:r>
              <a:rPr lang="en-US" sz="1800" dirty="0">
                <a:solidFill>
                  <a:schemeClr val="bg1">
                    <a:lumMod val="75000"/>
                  </a:schemeClr>
                </a:solidFill>
                <a:latin typeface="Consolas" panose="020B0609020204030204" pitchFamily="49" charset="0"/>
              </a:rPr>
              <a:t>Association Rule Mining. </a:t>
            </a:r>
          </a:p>
          <a:p>
            <a:pPr lvl="0">
              <a:lnSpc>
                <a:spcPct val="115000"/>
              </a:lnSpc>
              <a:tabLst>
                <a:tab pos="228600" algn="l"/>
              </a:tabLst>
            </a:pPr>
            <a:r>
              <a:rPr lang="en-US" sz="1800" dirty="0">
                <a:solidFill>
                  <a:schemeClr val="bg1">
                    <a:lumMod val="75000"/>
                  </a:schemeClr>
                </a:solidFill>
                <a:latin typeface="Consolas" panose="020B0609020204030204" pitchFamily="49" charset="0"/>
              </a:rPr>
              <a:t>Interpretation and Presentations.</a:t>
            </a:r>
            <a:br>
              <a:rPr lang="en-US" sz="1800" dirty="0">
                <a:solidFill>
                  <a:schemeClr val="bg1">
                    <a:lumMod val="75000"/>
                  </a:schemeClr>
                </a:solidFill>
                <a:latin typeface="Consolas" panose="020B0609020204030204" pitchFamily="49" charset="0"/>
              </a:rPr>
            </a:br>
            <a:endParaRPr lang="en-UG" sz="1800" dirty="0">
              <a:solidFill>
                <a:schemeClr val="bg1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endParaRPr lang="en-UG" sz="1800" dirty="0">
              <a:solidFill>
                <a:schemeClr val="bg1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22966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5F003-92C6-46DA-93EC-D64094F5A5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685" y="-43542"/>
            <a:ext cx="7565571" cy="861220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rgbClr val="002060"/>
                </a:solidFill>
                <a:latin typeface="Consolas" panose="020B0609020204030204" pitchFamily="49" charset="0"/>
              </a:rPr>
              <a:t>Dataset Overview</a:t>
            </a:r>
            <a:endParaRPr lang="en-UG" sz="3600" dirty="0">
              <a:solidFill>
                <a:srgbClr val="00206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DCFA30-E3D0-40B0-803E-CBF0D1F859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4671" y="828562"/>
            <a:ext cx="8229600" cy="5921828"/>
          </a:xfrm>
        </p:spPr>
        <p:txBody>
          <a:bodyPr/>
          <a:lstStyle/>
          <a:p>
            <a:pPr marL="0" indent="0">
              <a:buNone/>
            </a:pPr>
            <a:r>
              <a:rPr lang="en-US" sz="1800" dirty="0">
                <a:effectLst/>
                <a:latin typeface="Consolas" panose="020B0609020204030204" pitchFamily="49" charset="0"/>
                <a:ea typeface="MS Mincho" panose="02020609040205080304" pitchFamily="49" charset="-128"/>
                <a:cs typeface="Times New Roman" panose="02020603050405020304" pitchFamily="18" charset="0"/>
              </a:rPr>
              <a:t>The dataset contains transaction data from a UK-based online retailer spanning multiple years of operational history. The original dataset includes 1,067,371 transaction records.</a:t>
            </a:r>
          </a:p>
          <a:p>
            <a:pPr marL="0" indent="0">
              <a:buNone/>
            </a:pPr>
            <a:endParaRPr lang="en-UG" dirty="0">
              <a:latin typeface="Consolas" panose="020B0609020204030204" pitchFamily="49" charset="0"/>
            </a:endParaRPr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17469DA0-4ABF-494D-B003-99265176FB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671" y="1882184"/>
            <a:ext cx="8229600" cy="211434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47733AD-4C0C-4FB8-87BF-EFF33390FC92}"/>
              </a:ext>
            </a:extLst>
          </p:cNvPr>
          <p:cNvSpPr txBox="1"/>
          <p:nvPr/>
        </p:nvSpPr>
        <p:spPr>
          <a:xfrm>
            <a:off x="2873829" y="4126076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lang="en-US" dirty="0"/>
              <a:t>Data Quality &amp; Cleaning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0C48BA6-E554-455A-902C-26275F98DA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639" y="4618966"/>
            <a:ext cx="4667048" cy="175215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5F74C70-28D9-49CB-A258-040E4ED14F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8871" y="4852937"/>
            <a:ext cx="2848373" cy="1047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53408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42851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193264"/>
                </a:solidFill>
              </a:defRPr>
            </a:pPr>
            <a:r>
              <a:rPr sz="3200" b="1" dirty="0">
                <a:solidFill>
                  <a:srgbClr val="193264"/>
                </a:solidFill>
                <a:latin typeface="Consolas" panose="020B0609020204030204" pitchFamily="49" charset="0"/>
              </a:rPr>
              <a:t>Feature Engineering - Customer 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52994" y="853864"/>
            <a:ext cx="813380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>
                <a:latin typeface="Consolas" panose="020B0609020204030204" pitchFamily="49" charset="0"/>
              </a:rPr>
              <a:t>Three Key Features Extracted: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dirty="0">
                <a:latin typeface="Consolas" panose="020B0609020204030204" pitchFamily="49" charset="0"/>
              </a:rPr>
              <a:t>Total Spending: Sum of quantity × price for each customer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dirty="0">
                <a:latin typeface="Consolas" panose="020B0609020204030204" pitchFamily="49" charset="0"/>
              </a:rPr>
              <a:t>Transaction Count: Number of invoices per customer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dirty="0">
                <a:latin typeface="Consolas" panose="020B0609020204030204" pitchFamily="49" charset="0"/>
              </a:rPr>
              <a:t>Average Basket Size: Items per transaction on average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A6DC6E8-8B4B-42BF-BA17-4572A9E924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090" y="2423524"/>
            <a:ext cx="4860375" cy="120178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209CAC6-7748-40AA-922E-275AE561F4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7665" y="3579136"/>
            <a:ext cx="3803710" cy="322119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FDE5A-FC94-409B-BFA3-6BE3D42639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8229600" cy="331827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002060"/>
                </a:solidFill>
                <a:latin typeface="Consolas" panose="020B0609020204030204" pitchFamily="49" charset="0"/>
              </a:rPr>
              <a:t>Feature Scaling</a:t>
            </a:r>
            <a:br>
              <a:rPr lang="en-US" dirty="0">
                <a:solidFill>
                  <a:srgbClr val="002060"/>
                </a:solidFill>
                <a:latin typeface="Consolas" panose="020B0609020204030204" pitchFamily="49" charset="0"/>
              </a:rPr>
            </a:br>
            <a:endParaRPr lang="en-UG" dirty="0">
              <a:solidFill>
                <a:srgbClr val="00206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A1ED87-1E12-42B6-A750-7F34C94CCB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631372"/>
            <a:ext cx="8001000" cy="1454394"/>
          </a:xfrm>
        </p:spPr>
        <p:txBody>
          <a:bodyPr>
            <a:normAutofit/>
          </a:bodyPr>
          <a:lstStyle/>
          <a:p>
            <a:pPr marL="457200" lvl="1" indent="0">
              <a:spcBef>
                <a:spcPts val="600"/>
              </a:spcBef>
              <a:spcAft>
                <a:spcPts val="600"/>
              </a:spcAft>
              <a:buNone/>
              <a:defRPr sz="1600">
                <a:solidFill>
                  <a:srgbClr val="000000"/>
                </a:solidFill>
              </a:defRPr>
            </a:pPr>
            <a:r>
              <a:rPr lang="en-US" dirty="0">
                <a:latin typeface="Consolas" panose="020B0609020204030204" pitchFamily="49" charset="0"/>
              </a:rPr>
              <a:t>Method: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r>
              <a:rPr lang="en-US" dirty="0">
                <a:latin typeface="Consolas" panose="020B0609020204030204" pitchFamily="49" charset="0"/>
              </a:rPr>
              <a:t> normalization</a:t>
            </a:r>
          </a:p>
          <a:p>
            <a:pPr marL="457200" lvl="1" indent="0">
              <a:spcBef>
                <a:spcPts val="600"/>
              </a:spcBef>
              <a:spcAft>
                <a:spcPts val="600"/>
              </a:spcAft>
              <a:buNone/>
              <a:defRPr sz="1600">
                <a:solidFill>
                  <a:srgbClr val="000000"/>
                </a:solidFill>
              </a:defRPr>
            </a:pPr>
            <a:r>
              <a:rPr lang="en-US" dirty="0">
                <a:latin typeface="Consolas" panose="020B0609020204030204" pitchFamily="49" charset="0"/>
              </a:rPr>
              <a:t>Purpose: Equalize feature importance (mean=0, std=1)</a:t>
            </a:r>
          </a:p>
          <a:p>
            <a:pPr marL="457200" lvl="1" indent="0">
              <a:spcBef>
                <a:spcPts val="600"/>
              </a:spcBef>
              <a:spcAft>
                <a:spcPts val="600"/>
              </a:spcAft>
              <a:buNone/>
              <a:defRPr sz="1600">
                <a:solidFill>
                  <a:srgbClr val="000000"/>
                </a:solidFill>
              </a:defRPr>
            </a:pPr>
            <a:r>
              <a:rPr lang="en-US" dirty="0">
                <a:latin typeface="Consolas" panose="020B0609020204030204" pitchFamily="49" charset="0"/>
              </a:rPr>
              <a:t>Result: 5,881 customers × 3 normalized features</a:t>
            </a:r>
          </a:p>
          <a:p>
            <a:endParaRPr lang="en-UG" dirty="0">
              <a:latin typeface="Consolas" panose="020B0609020204030204" pitchFamily="49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DF77E6-768B-4148-A869-6F986087E6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000" y="2085766"/>
            <a:ext cx="6244060" cy="216450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4A01681-6B48-4619-9754-D0308EC068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1730" y="4479478"/>
            <a:ext cx="3620005" cy="838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40386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03867" y="255522"/>
            <a:ext cx="6498189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93264"/>
                </a:solidFill>
              </a:defRPr>
            </a:pPr>
            <a:r>
              <a:rPr dirty="0"/>
              <a:t> </a:t>
            </a:r>
            <a:r>
              <a:rPr dirty="0">
                <a:latin typeface="Consolas" panose="020B0609020204030204" pitchFamily="49" charset="0"/>
              </a:rPr>
              <a:t>Finding Optimal </a:t>
            </a:r>
            <a:r>
              <a:rPr dirty="0"/>
              <a:t>Clusters</a:t>
            </a:r>
          </a:p>
        </p:txBody>
      </p:sp>
      <p:pic>
        <p:nvPicPr>
          <p:cNvPr id="3" name="Picture 2" descr="figur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064" y="1244483"/>
            <a:ext cx="8472472" cy="298884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7A517DD-F211-4EFA-8981-D7ACB92241F1}"/>
              </a:ext>
            </a:extLst>
          </p:cNvPr>
          <p:cNvSpPr txBox="1"/>
          <p:nvPr/>
        </p:nvSpPr>
        <p:spPr>
          <a:xfrm>
            <a:off x="292100" y="4559903"/>
            <a:ext cx="326813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Inertia decreases as clusters increase, 'elbow' visible at k=2</a:t>
            </a:r>
            <a:br>
              <a:rPr lang="en-US" dirty="0">
                <a:latin typeface="Consolas" panose="020B0609020204030204" pitchFamily="49" charset="0"/>
              </a:rPr>
            </a:br>
            <a:endParaRPr lang="en-UG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0D9661-C83D-400C-9971-117C33AEE736}"/>
              </a:ext>
            </a:extLst>
          </p:cNvPr>
          <p:cNvSpPr txBox="1"/>
          <p:nvPr/>
        </p:nvSpPr>
        <p:spPr>
          <a:xfrm>
            <a:off x="4432300" y="4522052"/>
            <a:ext cx="4572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Silhouette score peaks at k=2 (score: 0.9645), indicating optimal cluster separation</a:t>
            </a:r>
            <a:br>
              <a:rPr lang="en-US" dirty="0">
                <a:latin typeface="Consolas" panose="020B0609020204030204" pitchFamily="49" charset="0"/>
              </a:rPr>
            </a:br>
            <a:endParaRPr lang="en-UG" dirty="0"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73947" y="37828"/>
            <a:ext cx="7417415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93264"/>
                </a:solidFill>
              </a:defRPr>
            </a:pPr>
            <a:r>
              <a:rPr sz="3200" dirty="0">
                <a:latin typeface="Consolas" panose="020B0609020204030204" pitchFamily="49" charset="0"/>
              </a:rPr>
              <a:t>Clustering Algorithms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546242"/>
            <a:ext cx="4880187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sz="1100" b="1" dirty="0">
                <a:latin typeface="Consolas" panose="020B0609020204030204" pitchFamily="49" charset="0"/>
              </a:rPr>
              <a:t> K-Means Clustering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sz="1050" dirty="0">
                <a:latin typeface="Consolas" panose="020B0609020204030204" pitchFamily="49" charset="0"/>
              </a:rPr>
              <a:t>Algorithm: Partitions data into k spherical clusters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sz="1050" dirty="0">
                <a:latin typeface="Consolas" panose="020B0609020204030204" pitchFamily="49" charset="0"/>
              </a:rPr>
              <a:t>k=2 Silhouette Score: 0.9645 (excellent separation)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sz="1050" dirty="0">
                <a:latin typeface="Consolas" panose="020B0609020204030204" pitchFamily="49" charset="0"/>
              </a:rPr>
              <a:t>Result: 24 customers in Cluster 0, 5,857 in Cluster 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4FFCC2-5C76-4E12-B449-75B10B353124}"/>
              </a:ext>
            </a:extLst>
          </p:cNvPr>
          <p:cNvSpPr txBox="1"/>
          <p:nvPr/>
        </p:nvSpPr>
        <p:spPr>
          <a:xfrm>
            <a:off x="-169335" y="2412709"/>
            <a:ext cx="560493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lang="en-US" sz="1050" b="1" dirty="0">
                <a:solidFill>
                  <a:srgbClr val="000000"/>
                </a:solidFill>
                <a:latin typeface="Consolas" panose="020B0609020204030204" pitchFamily="49" charset="0"/>
              </a:rPr>
              <a:t>DBSCAN (Density-Based)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Algorithm: Groups points by density, identifies outliers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Parameters: eps=0.5,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min_samples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=5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Result: 1 main cluster, 69 noise points detected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5A71AC9-0997-4E3A-BE66-7D5F67BFC5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5799" y="711198"/>
            <a:ext cx="4495802" cy="161291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9F9CD70-2C24-40D6-882C-B58E38EA5F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8329" y="3012873"/>
            <a:ext cx="4905702" cy="216872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96524" y="79587"/>
            <a:ext cx="622347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93264"/>
                </a:solidFill>
              </a:defRPr>
            </a:pPr>
            <a:r>
              <a:rPr sz="2000" dirty="0">
                <a:latin typeface="Consolas" panose="020B0609020204030204" pitchFamily="49" charset="0"/>
              </a:rPr>
              <a:t>Clustering Visualization - PCA Reduction</a:t>
            </a:r>
          </a:p>
        </p:txBody>
      </p:sp>
      <p:pic>
        <p:nvPicPr>
          <p:cNvPr id="3" name="Picture 2" descr="figur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391" y="768737"/>
            <a:ext cx="8487224" cy="315133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68792" y="5449125"/>
            <a:ext cx="5826757" cy="822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1300">
                <a:solidFill>
                  <a:srgbClr val="000000"/>
                </a:solidFill>
              </a:defRPr>
            </a:pPr>
            <a:r>
              <a:rPr dirty="0">
                <a:latin typeface="Consolas" panose="020B0609020204030204" pitchFamily="49" charset="0"/>
              </a:rPr>
              <a:t>PCA explains 89.4% variance in 2D (PC1) - good data reduction</a:t>
            </a:r>
            <a:br>
              <a:rPr dirty="0">
                <a:latin typeface="Consolas" panose="020B0609020204030204" pitchFamily="49" charset="0"/>
              </a:rPr>
            </a:br>
            <a:br>
              <a:rPr dirty="0">
                <a:latin typeface="Consolas" panose="020B0609020204030204" pitchFamily="49" charset="0"/>
              </a:rPr>
            </a:br>
            <a:r>
              <a:rPr dirty="0">
                <a:latin typeface="Consolas" panose="020B0609020204030204" pitchFamily="49" charset="0"/>
              </a:rPr>
              <a:t>Key Finding: Both methods successfully segment customers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563771-B967-422C-A1C8-624E680AF3BA}"/>
              </a:ext>
            </a:extLst>
          </p:cNvPr>
          <p:cNvSpPr txBox="1"/>
          <p:nvPr/>
        </p:nvSpPr>
        <p:spPr>
          <a:xfrm>
            <a:off x="131234" y="4330895"/>
            <a:ext cx="4212166" cy="6463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dirty="0"/>
              <a:t>K-Means creates spherical clusters (clear separation)</a:t>
            </a:r>
            <a:endParaRPr lang="en-UG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064FBF-D6B5-46CA-92A6-030424C342FF}"/>
              </a:ext>
            </a:extLst>
          </p:cNvPr>
          <p:cNvSpPr txBox="1"/>
          <p:nvPr/>
        </p:nvSpPr>
        <p:spPr>
          <a:xfrm>
            <a:off x="4445003" y="4330894"/>
            <a:ext cx="4567763" cy="6463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dirty="0"/>
              <a:t>DBSCAN density-based clustering shows main cluster + outliers</a:t>
            </a:r>
            <a:endParaRPr lang="en-UG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93264"/>
                </a:solidFill>
              </a:defRPr>
            </a:pPr>
            <a:r>
              <a:t>Non-Linear Visualization - t-SNE</a:t>
            </a:r>
          </a:p>
        </p:txBody>
      </p:sp>
      <p:pic>
        <p:nvPicPr>
          <p:cNvPr id="3" name="Picture 2" descr="figur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286" y="1012371"/>
            <a:ext cx="8531428" cy="316774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06286" y="6151804"/>
            <a:ext cx="8380514" cy="323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1300">
                <a:solidFill>
                  <a:srgbClr val="000000"/>
                </a:solidFill>
              </a:defRPr>
            </a:pPr>
            <a:r>
              <a:rPr dirty="0"/>
              <a:t>Key Difference from PCA: t-SNE preserves local distances better, revealing more intuitive cluster shapes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A4AF31-8AAF-4F8E-8BDF-D906BA86AF3B}"/>
              </a:ext>
            </a:extLst>
          </p:cNvPr>
          <p:cNvSpPr txBox="1"/>
          <p:nvPr/>
        </p:nvSpPr>
        <p:spPr>
          <a:xfrm>
            <a:off x="4953002" y="5064423"/>
            <a:ext cx="3884712" cy="646331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dirty="0"/>
              <a:t> DBSCAN visualization confirms density patterns</a:t>
            </a:r>
            <a:endParaRPr lang="en-UG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511D5F-3C8C-4F71-96DB-F6B8A88A4BBB}"/>
              </a:ext>
            </a:extLst>
          </p:cNvPr>
          <p:cNvSpPr txBox="1"/>
          <p:nvPr/>
        </p:nvSpPr>
        <p:spPr>
          <a:xfrm>
            <a:off x="0" y="5064424"/>
            <a:ext cx="4762500" cy="6463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dirty="0"/>
              <a:t> K-Means clusters show natural grouping in non-linear space</a:t>
            </a:r>
            <a:endParaRPr lang="en-UG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ED5215-182C-44AE-B35E-40DAE8D1C726}"/>
              </a:ext>
            </a:extLst>
          </p:cNvPr>
          <p:cNvSpPr txBox="1"/>
          <p:nvPr/>
        </p:nvSpPr>
        <p:spPr>
          <a:xfrm>
            <a:off x="1962149" y="4209003"/>
            <a:ext cx="46645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 t-SNE Analysis (Sample of 1,000 customers)</a:t>
            </a:r>
            <a:endParaRPr lang="en-UG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691660" y="0"/>
            <a:ext cx="4432624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93264"/>
                </a:solidFill>
              </a:defRPr>
            </a:pPr>
            <a:r>
              <a:rPr sz="2400" dirty="0">
                <a:latin typeface="Consolas" panose="020B0609020204030204" pitchFamily="49" charset="0"/>
              </a:rPr>
              <a:t> Deep Learning Embeddings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3285" y="513915"/>
            <a:ext cx="3907971" cy="1508105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sz="1200" b="1" dirty="0">
                <a:solidFill>
                  <a:srgbClr val="000000"/>
                </a:solidFill>
                <a:latin typeface="Consolas" panose="020B0609020204030204" pitchFamily="49" charset="0"/>
              </a:rPr>
              <a:t>Autoencoder </a:t>
            </a:r>
            <a:r>
              <a:rPr sz="12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Architecture</a:t>
            </a:r>
            <a:r>
              <a:rPr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Encoder</a:t>
            </a:r>
            <a:r>
              <a:rPr sz="1200" dirty="0">
                <a:solidFill>
                  <a:srgbClr val="000000"/>
                </a:solidFill>
                <a:latin typeface="Consolas" panose="020B0609020204030204" pitchFamily="49" charset="0"/>
              </a:rPr>
              <a:t>: 3 → 64 → 32  2 (dimensionality reduction)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sz="1200" dirty="0">
                <a:solidFill>
                  <a:srgbClr val="000000"/>
                </a:solidFill>
                <a:latin typeface="Consolas" panose="020B0609020204030204" pitchFamily="49" charset="0"/>
              </a:rPr>
              <a:t>Bottleneck: 2D latent space (learns compressed representation)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sz="1200" dirty="0">
                <a:solidFill>
                  <a:srgbClr val="000000"/>
                </a:solidFill>
                <a:latin typeface="Consolas" panose="020B0609020204030204" pitchFamily="49" charset="0"/>
              </a:rPr>
              <a:t>Decoder: 2 → 32 → 64 → 3 (reconstruction)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77D49A-9754-490E-BD01-FE1AED68D3B2}"/>
              </a:ext>
            </a:extLst>
          </p:cNvPr>
          <p:cNvSpPr txBox="1"/>
          <p:nvPr/>
        </p:nvSpPr>
        <p:spPr>
          <a:xfrm>
            <a:off x="4158343" y="498525"/>
            <a:ext cx="4408714" cy="1538883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lang="en-US" sz="1400" dirty="0">
                <a:latin typeface="Consolas" panose="020B0609020204030204" pitchFamily="49" charset="0"/>
              </a:rPr>
              <a:t>Objective: </a:t>
            </a:r>
            <a:r>
              <a:rPr lang="en-US" sz="1200" dirty="0">
                <a:latin typeface="Consolas" panose="020B0609020204030204" pitchFamily="49" charset="0"/>
              </a:rPr>
              <a:t>Learn non-linear patterns in customer behavior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lang="en-US" sz="1200" dirty="0">
                <a:latin typeface="Consolas" panose="020B0609020204030204" pitchFamily="49" charset="0"/>
              </a:rPr>
              <a:t>Compare with traditional PCA dimensionality reduction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lang="en-US" sz="1200" dirty="0">
                <a:latin typeface="Consolas" panose="020B0609020204030204" pitchFamily="49" charset="0"/>
              </a:rPr>
              <a:t>Test if deep learning captures hidden customer relationships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BB6D2F-07DB-4B7C-8D9D-68AE27D63C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845" y="2127145"/>
            <a:ext cx="4408714" cy="18989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88E9022-8930-424D-A942-AF4853D0DA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7971" y="4026065"/>
            <a:ext cx="4659085" cy="26966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31371" y="45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93264"/>
                </a:solidFill>
              </a:defRPr>
            </a:pPr>
            <a:r>
              <a:rPr dirty="0"/>
              <a:t>Autoencoder Training Results</a:t>
            </a:r>
          </a:p>
        </p:txBody>
      </p:sp>
      <p:pic>
        <p:nvPicPr>
          <p:cNvPr id="3" name="Picture 2" descr="figur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371" y="721904"/>
            <a:ext cx="7641771" cy="42161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31371" y="5157038"/>
            <a:ext cx="6368142" cy="15731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1300">
                <a:solidFill>
                  <a:srgbClr val="000000"/>
                </a:solidFill>
              </a:defRPr>
            </a:pPr>
            <a:r>
              <a:rPr dirty="0">
                <a:latin typeface="Consolas" panose="020B0609020204030204" pitchFamily="49" charset="0"/>
              </a:rPr>
              <a:t>Training &amp; Validation Loss Curves</a:t>
            </a:r>
            <a:br>
              <a:rPr dirty="0">
                <a:latin typeface="Consolas" panose="020B0609020204030204" pitchFamily="49" charset="0"/>
              </a:rPr>
            </a:br>
            <a:r>
              <a:rPr dirty="0">
                <a:latin typeface="Consolas" panose="020B0609020204030204" pitchFamily="49" charset="0"/>
              </a:rPr>
              <a:t>50 epochs of training with batch size 32</a:t>
            </a:r>
            <a:br>
              <a:rPr dirty="0">
                <a:latin typeface="Consolas" panose="020B0609020204030204" pitchFamily="49" charset="0"/>
              </a:rPr>
            </a:br>
            <a:r>
              <a:rPr dirty="0">
                <a:latin typeface="Consolas" panose="020B0609020204030204" pitchFamily="49" charset="0"/>
              </a:rPr>
              <a:t>Training Loss (blue): Steadily decreases → model learning</a:t>
            </a:r>
            <a:br>
              <a:rPr dirty="0">
                <a:latin typeface="Consolas" panose="020B0609020204030204" pitchFamily="49" charset="0"/>
              </a:rPr>
            </a:br>
            <a:r>
              <a:rPr dirty="0">
                <a:latin typeface="Consolas" panose="020B0609020204030204" pitchFamily="49" charset="0"/>
              </a:rPr>
              <a:t>Validation Loss (orange): Follows training loss → no overfitting</a:t>
            </a:r>
            <a:br>
              <a:rPr dirty="0">
                <a:latin typeface="Consolas" panose="020B0609020204030204" pitchFamily="49" charset="0"/>
              </a:rPr>
            </a:br>
            <a:r>
              <a:rPr dirty="0">
                <a:latin typeface="Consolas" panose="020B0609020204030204" pitchFamily="49" charset="0"/>
              </a:rPr>
              <a:t>Convergence achieved: Model successfully reconstructs features from 2D latent space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510937" y="-54333"/>
            <a:ext cx="5791970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93264"/>
                </a:solidFill>
              </a:defRPr>
            </a:pPr>
            <a:r>
              <a:rPr sz="2400" dirty="0">
                <a:latin typeface="Consolas" panose="020B0609020204030204" pitchFamily="49" charset="0"/>
              </a:rPr>
              <a:t>Deep Embeddings vs PCA Clustering</a:t>
            </a:r>
          </a:p>
        </p:txBody>
      </p:sp>
      <p:pic>
        <p:nvPicPr>
          <p:cNvPr id="3" name="Picture 2" descr="figur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227" y="455471"/>
            <a:ext cx="8497390" cy="315510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37457" y="5770913"/>
            <a:ext cx="8382000" cy="5728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1300">
                <a:solidFill>
                  <a:srgbClr val="000000"/>
                </a:solidFill>
              </a:defRPr>
            </a:pPr>
            <a:r>
              <a:rPr dirty="0">
                <a:latin typeface="Consolas" panose="020B0609020204030204" pitchFamily="49" charset="0"/>
              </a:rPr>
              <a:t>Observation: Deep embedding reveals similar cluster structure with different geometry</a:t>
            </a:r>
            <a:br>
              <a:rPr dirty="0">
                <a:latin typeface="Consolas" panose="020B0609020204030204" pitchFamily="49" charset="0"/>
              </a:rPr>
            </a:br>
            <a:r>
              <a:rPr dirty="0">
                <a:latin typeface="Consolas" panose="020B0609020204030204" pitchFamily="49" charset="0"/>
              </a:rPr>
              <a:t>Deep learning captures non-linear relationships that PCA misses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C88B2C-5835-4886-A8BA-8D09602A0C42}"/>
              </a:ext>
            </a:extLst>
          </p:cNvPr>
          <p:cNvSpPr txBox="1"/>
          <p:nvPr/>
        </p:nvSpPr>
        <p:spPr>
          <a:xfrm>
            <a:off x="2960914" y="3694597"/>
            <a:ext cx="22642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Latent Space Analysis</a:t>
            </a:r>
            <a:endParaRPr lang="en-UG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8C28BD-F3E9-4AC1-B122-B2FCB9E3C88C}"/>
              </a:ext>
            </a:extLst>
          </p:cNvPr>
          <p:cNvSpPr txBox="1"/>
          <p:nvPr/>
        </p:nvSpPr>
        <p:spPr>
          <a:xfrm>
            <a:off x="239486" y="4229183"/>
            <a:ext cx="38862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Clusters in 2D autoencoder latent space (non-linear representation)</a:t>
            </a:r>
            <a:endParaRPr lang="en-UG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21135DF-D3E9-4309-A2BA-A5A71A161514}"/>
              </a:ext>
            </a:extLst>
          </p:cNvPr>
          <p:cNvSpPr txBox="1"/>
          <p:nvPr/>
        </p:nvSpPr>
        <p:spPr>
          <a:xfrm>
            <a:off x="5323114" y="4236012"/>
            <a:ext cx="349431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PCA clusters for direct comparison</a:t>
            </a:r>
            <a:endParaRPr lang="en-UG" dirty="0"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587849" y="67946"/>
            <a:ext cx="5968301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93264"/>
                </a:solidFill>
              </a:defRPr>
            </a:pPr>
            <a:r>
              <a:rPr sz="2000" dirty="0">
                <a:latin typeface="Consolas" panose="020B0609020204030204" pitchFamily="49" charset="0"/>
              </a:rPr>
              <a:t>Clustering Quality - PCA vs Deep Learning</a:t>
            </a:r>
          </a:p>
        </p:txBody>
      </p:sp>
      <p:pic>
        <p:nvPicPr>
          <p:cNvPr id="3" name="Picture 2" descr="figur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086" y="468056"/>
            <a:ext cx="6972300" cy="432459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3657" y="5192757"/>
            <a:ext cx="8469086" cy="15731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1300">
                <a:solidFill>
                  <a:srgbClr val="000000"/>
                </a:solidFill>
              </a:defRPr>
            </a:pPr>
            <a:r>
              <a:rPr b="1" dirty="0">
                <a:latin typeface="Consolas" panose="020B0609020204030204" pitchFamily="49" charset="0"/>
              </a:rPr>
              <a:t>Silhouette Score Comparison</a:t>
            </a:r>
            <a:br>
              <a:rPr dirty="0">
                <a:latin typeface="Consolas" panose="020B0609020204030204" pitchFamily="49" charset="0"/>
              </a:rPr>
            </a:br>
            <a:r>
              <a:rPr dirty="0">
                <a:latin typeface="Consolas" panose="020B0609020204030204" pitchFamily="49" charset="0"/>
              </a:rPr>
              <a:t>PCA + K-Means: 0.9645 (linear dimensionality reduction)</a:t>
            </a:r>
            <a:br>
              <a:rPr dirty="0">
                <a:latin typeface="Consolas" panose="020B0609020204030204" pitchFamily="49" charset="0"/>
              </a:rPr>
            </a:br>
            <a:r>
              <a:rPr dirty="0">
                <a:latin typeface="Consolas" panose="020B0609020204030204" pitchFamily="49" charset="0"/>
              </a:rPr>
              <a:t>Deep Embedding + K-Means: 0.9689 (non-linear)</a:t>
            </a:r>
            <a:br>
              <a:rPr dirty="0">
                <a:latin typeface="Consolas" panose="020B0609020204030204" pitchFamily="49" charset="0"/>
              </a:rPr>
            </a:br>
            <a:r>
              <a:rPr dirty="0">
                <a:latin typeface="Consolas" panose="020B0609020204030204" pitchFamily="49" charset="0"/>
              </a:rPr>
              <a:t>Improvement: +0.43% better cluster quality with deep learning</a:t>
            </a:r>
            <a:br>
              <a:rPr dirty="0">
                <a:latin typeface="Consolas" panose="020B0609020204030204" pitchFamily="49" charset="0"/>
              </a:rPr>
            </a:br>
            <a:r>
              <a:rPr dirty="0">
                <a:latin typeface="Consolas" panose="020B0609020204030204" pitchFamily="49" charset="0"/>
              </a:rPr>
              <a:t>✓ Both methods excellent (&gt;0.96), but autoencoder slightly better at capturing customer complexity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92086" y="198120"/>
            <a:ext cx="5383205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93264"/>
                </a:solidFill>
              </a:defRPr>
            </a:pPr>
            <a:r>
              <a:rPr sz="3200" dirty="0">
                <a:latin typeface="Consolas" panose="020B0609020204030204" pitchFamily="49" charset="0"/>
              </a:rPr>
              <a:t>Association Rule Mining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0372" y="879566"/>
            <a:ext cx="5246914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sz="1200" b="1" dirty="0">
                <a:latin typeface="Consolas" panose="020B0609020204030204" pitchFamily="49" charset="0"/>
              </a:rPr>
              <a:t>Product Affinity Analysis using </a:t>
            </a:r>
            <a:r>
              <a:rPr sz="1200" b="1" dirty="0" err="1">
                <a:latin typeface="Consolas" panose="020B0609020204030204" pitchFamily="49" charset="0"/>
              </a:rPr>
              <a:t>Apriori</a:t>
            </a:r>
            <a:endParaRPr sz="1200" b="1" dirty="0">
              <a:latin typeface="Consolas" panose="020B0609020204030204" pitchFamily="49" charset="0"/>
            </a:endParaRP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sz="1100" dirty="0">
                <a:latin typeface="Consolas" panose="020B0609020204030204" pitchFamily="49" charset="0"/>
              </a:rPr>
              <a:t>Data Format: 40,301 invoices → basket format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sz="1100" dirty="0">
                <a:latin typeface="Consolas" panose="020B0609020204030204" pitchFamily="49" charset="0"/>
              </a:rPr>
              <a:t>Binary Matrix: 40,301 transactions × 5,426 products</a:t>
            </a:r>
            <a:endParaRPr lang="en-US" sz="1100" dirty="0">
              <a:latin typeface="Consolas" panose="020B0609020204030204" pitchFamily="49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lang="en-US" sz="1200" b="1" dirty="0" err="1">
                <a:latin typeface="Consolas" panose="020B0609020204030204" pitchFamily="49" charset="0"/>
              </a:rPr>
              <a:t>Apriori</a:t>
            </a:r>
            <a:r>
              <a:rPr lang="en-US" sz="1200" b="1" dirty="0">
                <a:latin typeface="Consolas" panose="020B0609020204030204" pitchFamily="49" charset="0"/>
              </a:rPr>
              <a:t> Algorithm Settings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sz="1100" dirty="0" err="1">
                <a:latin typeface="Consolas" panose="020B0609020204030204" pitchFamily="49" charset="0"/>
              </a:rPr>
              <a:t>min_support</a:t>
            </a:r>
            <a:r>
              <a:rPr sz="1100" dirty="0">
                <a:latin typeface="Consolas" panose="020B0609020204030204" pitchFamily="49" charset="0"/>
              </a:rPr>
              <a:t> = 0.03: Items must appear in 3% of transactions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sz="1100" dirty="0">
                <a:latin typeface="Consolas" panose="020B0609020204030204" pitchFamily="49" charset="0"/>
              </a:rPr>
              <a:t>Frequent </a:t>
            </a:r>
            <a:r>
              <a:rPr sz="1100" dirty="0" err="1">
                <a:latin typeface="Consolas" panose="020B0609020204030204" pitchFamily="49" charset="0"/>
              </a:rPr>
              <a:t>itemsets</a:t>
            </a:r>
            <a:r>
              <a:rPr sz="1100" dirty="0">
                <a:latin typeface="Consolas" panose="020B0609020204030204" pitchFamily="49" charset="0"/>
              </a:rPr>
              <a:t> found: 89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sz="1100" dirty="0">
                <a:latin typeface="Consolas" panose="020B0609020204030204" pitchFamily="49" charset="0"/>
              </a:rPr>
              <a:t>Association rules generated: 2 high-quality rules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sz="1200" b="1" dirty="0">
                <a:latin typeface="Consolas" panose="020B0609020204030204" pitchFamily="49" charset="0"/>
              </a:rPr>
              <a:t>Rule Quality Metrics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sz="1100" dirty="0">
                <a:latin typeface="Consolas" panose="020B0609020204030204" pitchFamily="49" charset="0"/>
              </a:rPr>
              <a:t>Support: % of transactions with both items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sz="1100" dirty="0">
                <a:latin typeface="Consolas" panose="020B0609020204030204" pitchFamily="49" charset="0"/>
              </a:rPr>
              <a:t>Confidence: % chance of buying Y given X purchased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sz="1100" dirty="0">
                <a:latin typeface="Consolas" panose="020B0609020204030204" pitchFamily="49" charset="0"/>
              </a:rPr>
              <a:t>Lift: How much more likely Y is bought with X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0643C3-CF59-4784-A86A-EC6DFAD4DC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852" y="4529606"/>
            <a:ext cx="8109578" cy="126769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3018" y="475674"/>
            <a:ext cx="7869462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93264"/>
                </a:solidFill>
              </a:defRPr>
            </a:pPr>
            <a:r>
              <a:rPr sz="3200" dirty="0">
                <a:latin typeface="Consolas" panose="020B0609020204030204" pitchFamily="49" charset="0"/>
              </a:rPr>
              <a:t>Product Association Rules Analysis</a:t>
            </a:r>
          </a:p>
        </p:txBody>
      </p:sp>
      <p:pic>
        <p:nvPicPr>
          <p:cNvPr id="3" name="Picture 2" descr="figur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310" y="1676400"/>
            <a:ext cx="8183170" cy="28847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931229" y="5208241"/>
            <a:ext cx="3962400" cy="1323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1300">
                <a:solidFill>
                  <a:srgbClr val="000000"/>
                </a:solidFill>
              </a:defRPr>
            </a:pPr>
            <a:r>
              <a:rPr dirty="0">
                <a:latin typeface="Consolas" panose="020B0609020204030204" pitchFamily="49" charset="0"/>
              </a:rPr>
              <a:t> Top 10 rules ranked by Lift</a:t>
            </a:r>
            <a:br>
              <a:rPr dirty="0">
                <a:latin typeface="Consolas" panose="020B0609020204030204" pitchFamily="49" charset="0"/>
              </a:rPr>
            </a:br>
            <a:r>
              <a:rPr dirty="0">
                <a:latin typeface="Consolas" panose="020B0609020204030204" pitchFamily="49" charset="0"/>
              </a:rPr>
              <a:t>• Rule strength shows product affinities</a:t>
            </a:r>
            <a:br>
              <a:rPr dirty="0">
                <a:latin typeface="Consolas" panose="020B0609020204030204" pitchFamily="49" charset="0"/>
              </a:rPr>
            </a:br>
            <a:br>
              <a:rPr dirty="0">
                <a:latin typeface="Consolas" panose="020B0609020204030204" pitchFamily="49" charset="0"/>
              </a:rPr>
            </a:br>
            <a:r>
              <a:rPr dirty="0">
                <a:latin typeface="Consolas" panose="020B0609020204030204" pitchFamily="49" charset="0"/>
              </a:rPr>
              <a:t>Key Finding: Strong color-based purchasing patterns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D0CE1D-5E2D-47D4-93B1-821CAB3C8D95}"/>
              </a:ext>
            </a:extLst>
          </p:cNvPr>
          <p:cNvSpPr txBox="1"/>
          <p:nvPr/>
        </p:nvSpPr>
        <p:spPr>
          <a:xfrm>
            <a:off x="97972" y="5170322"/>
            <a:ext cx="4572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Each rule plotted by support vs confidence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• Color intensity = Lift strength (darker = stronger association)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• Rules upper-right = highest value</a:t>
            </a:r>
            <a:endParaRPr lang="en-UG" dirty="0"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90600" y="43487"/>
            <a:ext cx="6811480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93264"/>
                </a:solidFill>
              </a:defRPr>
            </a:pPr>
            <a:r>
              <a:rPr sz="2400" dirty="0">
                <a:latin typeface="Consolas" panose="020B0609020204030204" pitchFamily="49" charset="0"/>
              </a:rPr>
              <a:t>Top Association Rules - Business Impact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E41F11D-D04A-4DAE-9E32-8E0BF6B66D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292" y="505153"/>
            <a:ext cx="7813108" cy="268436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947A99B-885E-4079-BD64-E0746409DC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3429" y="3273531"/>
            <a:ext cx="6125822" cy="3473951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6878" y="426720"/>
            <a:ext cx="7337265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93264"/>
                </a:solidFill>
              </a:defRPr>
            </a:pPr>
            <a:r>
              <a:rPr sz="4400" b="1" dirty="0">
                <a:solidFill>
                  <a:srgbClr val="193264"/>
                </a:solidFill>
                <a:latin typeface="Consolas" panose="020B0609020204030204" pitchFamily="49" charset="0"/>
              </a:rPr>
              <a:t>Bus</a:t>
            </a:r>
            <a:r>
              <a:rPr dirty="0">
                <a:latin typeface="Consolas" panose="020B0609020204030204" pitchFamily="49" charset="0"/>
              </a:rPr>
              <a:t>iness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2109" y="1645920"/>
            <a:ext cx="7863840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>
                <a:latin typeface="Consolas" panose="020B0609020204030204" pitchFamily="49" charset="0"/>
              </a:rPr>
              <a:t> Customer Segment Analysis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dirty="0">
                <a:latin typeface="Consolas" panose="020B0609020204030204" pitchFamily="49" charset="0"/>
              </a:rPr>
              <a:t>VIP Segment: Bulk buyers/wholesalers (0.4% but 87% of revenue)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dirty="0">
                <a:latin typeface="Consolas" panose="020B0609020204030204" pitchFamily="49" charset="0"/>
              </a:rPr>
              <a:t>Retail Segment: Individual shoppers (99.6%, loyal base)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>
                <a:latin typeface="Consolas" panose="020B0609020204030204" pitchFamily="49" charset="0"/>
              </a:rPr>
              <a:t> High-Value Customers (Top 25% spenders)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dirty="0">
                <a:latin typeface="Consolas" panose="020B0609020204030204" pitchFamily="49" charset="0"/>
              </a:rPr>
              <a:t>Threshold: £2,304+ spending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dirty="0">
                <a:latin typeface="Consolas" panose="020B0609020204030204" pitchFamily="49" charset="0"/>
              </a:rPr>
              <a:t>Size: 1,471 customers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dirty="0">
                <a:latin typeface="Consolas" panose="020B0609020204030204" pitchFamily="49" charset="0"/>
              </a:rPr>
              <a:t>Includes all 24 VIP customers + 1,447 high-value retail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6505" y="35673"/>
            <a:ext cx="7830990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93264"/>
                </a:solidFill>
              </a:defRPr>
            </a:pPr>
            <a:r>
              <a:rPr sz="2400" dirty="0">
                <a:latin typeface="Consolas" panose="020B0609020204030204" pitchFamily="49" charset="0"/>
              </a:rPr>
              <a:t>Cluster Metrics Comparison - 4-Panel Analysis</a:t>
            </a:r>
          </a:p>
        </p:txBody>
      </p:sp>
      <p:pic>
        <p:nvPicPr>
          <p:cNvPr id="3" name="Picture 2" descr="figur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0" y="497338"/>
            <a:ext cx="6106886" cy="456959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06828" y="5249204"/>
            <a:ext cx="3483429" cy="15731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1300">
                <a:solidFill>
                  <a:srgbClr val="000000"/>
                </a:solidFill>
              </a:defRPr>
            </a:pPr>
            <a:r>
              <a:rPr b="1" dirty="0">
                <a:latin typeface="Consolas" panose="020B0609020204030204" pitchFamily="49" charset="0"/>
              </a:rPr>
              <a:t>Top-Left: </a:t>
            </a:r>
            <a:r>
              <a:rPr dirty="0">
                <a:latin typeface="Consolas" panose="020B0609020204030204" pitchFamily="49" charset="0"/>
              </a:rPr>
              <a:t>Average Spending</a:t>
            </a:r>
            <a:br>
              <a:rPr dirty="0">
                <a:latin typeface="Consolas" panose="020B0609020204030204" pitchFamily="49" charset="0"/>
              </a:rPr>
            </a:br>
            <a:r>
              <a:rPr dirty="0">
                <a:latin typeface="Consolas" panose="020B0609020204030204" pitchFamily="49" charset="0"/>
              </a:rPr>
              <a:t>• Cluster 0: £163K | Cluster 1: £2.3K</a:t>
            </a:r>
            <a:br>
              <a:rPr dirty="0">
                <a:latin typeface="Consolas" panose="020B0609020204030204" pitchFamily="49" charset="0"/>
              </a:rPr>
            </a:br>
            <a:r>
              <a:rPr b="1" dirty="0">
                <a:latin typeface="Consolas" panose="020B0609020204030204" pitchFamily="49" charset="0"/>
              </a:rPr>
              <a:t>Top-Right</a:t>
            </a:r>
            <a:r>
              <a:rPr dirty="0">
                <a:latin typeface="Consolas" panose="020B0609020204030204" pitchFamily="49" charset="0"/>
              </a:rPr>
              <a:t>: Transaction Count</a:t>
            </a:r>
            <a:br>
              <a:rPr dirty="0">
                <a:latin typeface="Consolas" panose="020B0609020204030204" pitchFamily="49" charset="0"/>
              </a:rPr>
            </a:br>
            <a:r>
              <a:rPr dirty="0">
                <a:latin typeface="Consolas" panose="020B0609020204030204" pitchFamily="49" charset="0"/>
              </a:rPr>
              <a:t>• Cluster 0: 131 avg | Cluster 1: 6 avg (20x difference)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41FAB7-B2FB-4EA4-978D-53EB3C01E1EE}"/>
              </a:ext>
            </a:extLst>
          </p:cNvPr>
          <p:cNvSpPr txBox="1"/>
          <p:nvPr/>
        </p:nvSpPr>
        <p:spPr>
          <a:xfrm>
            <a:off x="4572000" y="5435602"/>
            <a:ext cx="427808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latin typeface="Consolas" panose="020B0609020204030204" pitchFamily="49" charset="0"/>
              </a:rPr>
              <a:t>Bottom-Left</a:t>
            </a:r>
            <a:r>
              <a:rPr lang="en-US" sz="1200" dirty="0">
                <a:latin typeface="Consolas" panose="020B0609020204030204" pitchFamily="49" charset="0"/>
              </a:rPr>
              <a:t>: Basket Size (items/transaction)</a:t>
            </a:r>
            <a:br>
              <a:rPr lang="en-US" sz="1200" dirty="0">
                <a:latin typeface="Consolas" panose="020B0609020204030204" pitchFamily="49" charset="0"/>
              </a:rPr>
            </a:br>
            <a:r>
              <a:rPr lang="en-US" sz="1200" dirty="0">
                <a:latin typeface="Consolas" panose="020B0609020204030204" pitchFamily="49" charset="0"/>
              </a:rPr>
              <a:t>• Cluster 0: Massive orders | Cluster 1: Regular orders</a:t>
            </a:r>
            <a:br>
              <a:rPr lang="en-US" sz="1200" dirty="0">
                <a:latin typeface="Consolas" panose="020B0609020204030204" pitchFamily="49" charset="0"/>
              </a:rPr>
            </a:br>
            <a:r>
              <a:rPr lang="en-US" sz="1200" b="1" dirty="0">
                <a:latin typeface="Consolas" panose="020B0609020204030204" pitchFamily="49" charset="0"/>
              </a:rPr>
              <a:t>Bottom-Right</a:t>
            </a:r>
            <a:r>
              <a:rPr lang="en-US" sz="1200" dirty="0">
                <a:latin typeface="Consolas" panose="020B0609020204030204" pitchFamily="49" charset="0"/>
              </a:rPr>
              <a:t>: Customer Distribution</a:t>
            </a:r>
            <a:br>
              <a:rPr lang="en-US" sz="1200" dirty="0">
                <a:latin typeface="Consolas" panose="020B0609020204030204" pitchFamily="49" charset="0"/>
              </a:rPr>
            </a:br>
            <a:r>
              <a:rPr lang="en-US" sz="1200" dirty="0">
                <a:latin typeface="Consolas" panose="020B0609020204030204" pitchFamily="49" charset="0"/>
              </a:rPr>
              <a:t>• Cluster 1 dominates in volume, Cluster 0 in value</a:t>
            </a:r>
            <a:endParaRPr lang="en-UG" sz="1200" dirty="0"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539230"/>
            <a:ext cx="7406195" cy="14465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93264"/>
                </a:solidFill>
              </a:defRPr>
            </a:pPr>
            <a:r>
              <a:rPr dirty="0">
                <a:latin typeface="Consolas" panose="020B0609020204030204" pitchFamily="49" charset="0"/>
              </a:rPr>
              <a:t>Recommendation 1:</a:t>
            </a:r>
            <a:endParaRPr lang="en-US" dirty="0">
              <a:latin typeface="Consolas" panose="020B0609020204030204" pitchFamily="49" charset="0"/>
            </a:endParaRPr>
          </a:p>
          <a:p>
            <a:pPr>
              <a:defRPr sz="4400" b="1">
                <a:solidFill>
                  <a:srgbClr val="193264"/>
                </a:solidFill>
              </a:defRPr>
            </a:pPr>
            <a:r>
              <a:rPr dirty="0">
                <a:latin typeface="Consolas" panose="020B0609020204030204" pitchFamily="49" charset="0"/>
              </a:rPr>
              <a:t> VIP Account Management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8458" y="2394619"/>
            <a:ext cx="7863840" cy="32008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b="1" dirty="0">
                <a:latin typeface="Consolas" panose="020B0609020204030204" pitchFamily="49" charset="0"/>
              </a:rPr>
              <a:t>Dedicated Account Strategy for Cluster 0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dirty="0">
                <a:latin typeface="Consolas" panose="020B0609020204030204" pitchFamily="49" charset="0"/>
              </a:rPr>
              <a:t>Personal account managers for 24 VIP customers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dirty="0">
                <a:latin typeface="Consolas" panose="020B0609020204030204" pitchFamily="49" charset="0"/>
              </a:rPr>
              <a:t>Priority customer service &amp; support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dirty="0">
                <a:latin typeface="Consolas" panose="020B0609020204030204" pitchFamily="49" charset="0"/>
              </a:rPr>
              <a:t>Custom pricing negotiations for bulk orders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dirty="0">
                <a:latin typeface="Consolas" panose="020B0609020204030204" pitchFamily="49" charset="0"/>
              </a:rPr>
              <a:t>Exclusive product previews &amp; early access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b="1" dirty="0">
                <a:latin typeface="Consolas" panose="020B0609020204030204" pitchFamily="49" charset="0"/>
              </a:rPr>
              <a:t> Expected Impact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dirty="0">
                <a:latin typeface="Consolas" panose="020B0609020204030204" pitchFamily="49" charset="0"/>
              </a:rPr>
              <a:t>Retention Improvement: 15-25% reduction in churn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dirty="0">
                <a:latin typeface="Consolas" panose="020B0609020204030204" pitchFamily="49" charset="0"/>
              </a:rPr>
              <a:t>Revenue Protection: Prevent loss of top revenue source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5943" y="274320"/>
            <a:ext cx="7959230" cy="14465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93264"/>
                </a:solidFill>
              </a:defRPr>
            </a:pPr>
            <a:r>
              <a:rPr dirty="0">
                <a:latin typeface="Consolas" panose="020B0609020204030204" pitchFamily="49" charset="0"/>
              </a:rPr>
              <a:t>Recommendation 2: </a:t>
            </a:r>
            <a:endParaRPr lang="en-US" dirty="0">
              <a:latin typeface="Consolas" panose="020B0609020204030204" pitchFamily="49" charset="0"/>
            </a:endParaRPr>
          </a:p>
          <a:p>
            <a:pPr>
              <a:defRPr sz="4400" b="1">
                <a:solidFill>
                  <a:srgbClr val="193264"/>
                </a:solidFill>
              </a:defRPr>
            </a:pPr>
            <a:r>
              <a:rPr dirty="0">
                <a:latin typeface="Consolas" panose="020B0609020204030204" pitchFamily="49" charset="0"/>
              </a:rPr>
              <a:t>Product Bundling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20870"/>
            <a:ext cx="7863840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b="1" dirty="0">
                <a:latin typeface="Consolas" panose="020B0609020204030204" pitchFamily="49" charset="0"/>
              </a:rPr>
              <a:t> Leverage Association Rules for Bundles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dirty="0">
                <a:latin typeface="Consolas" panose="020B0609020204030204" pitchFamily="49" charset="0"/>
              </a:rPr>
              <a:t>Create 'Color Matched' bundles (RED + WHITE items)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dirty="0">
                <a:latin typeface="Consolas" panose="020B0609020204030204" pitchFamily="49" charset="0"/>
              </a:rPr>
              <a:t>Bundling discount: 10-15% to encourage purchases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dirty="0">
                <a:latin typeface="Consolas" panose="020B0609020204030204" pitchFamily="49" charset="0"/>
              </a:rPr>
              <a:t>Cross-sell recommendations in checkout flow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b="1" dirty="0">
                <a:latin typeface="Consolas" panose="020B0609020204030204" pitchFamily="49" charset="0"/>
              </a:rPr>
              <a:t>Target Audience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dirty="0">
                <a:latin typeface="Consolas" panose="020B0609020204030204" pitchFamily="49" charset="0"/>
              </a:rPr>
              <a:t>High-value retail customers (Cluster 1 top 25%)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dirty="0">
                <a:latin typeface="Consolas" panose="020B0609020204030204" pitchFamily="49" charset="0"/>
              </a:rPr>
              <a:t>Repeat buyers shown higher affinity patterns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b="1" dirty="0">
                <a:latin typeface="Consolas" panose="020B0609020204030204" pitchFamily="49" charset="0"/>
              </a:rPr>
              <a:t>Expected Impact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dirty="0">
                <a:latin typeface="Consolas" panose="020B0609020204030204" pitchFamily="49" charset="0"/>
              </a:rPr>
              <a:t>Average basket size increase: 10-15%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dirty="0">
                <a:latin typeface="Consolas" panose="020B0609020204030204" pitchFamily="49" charset="0"/>
              </a:rPr>
              <a:t>Inventory efficiency through predicted pairings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66800" y="402317"/>
            <a:ext cx="6404317" cy="14465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93264"/>
                </a:solidFill>
              </a:defRPr>
            </a:pPr>
            <a:r>
              <a:rPr dirty="0">
                <a:latin typeface="Consolas" panose="020B0609020204030204" pitchFamily="49" charset="0"/>
              </a:rPr>
              <a:t>Recommendation 3:</a:t>
            </a:r>
            <a:endParaRPr lang="en-US" dirty="0">
              <a:latin typeface="Consolas" panose="020B0609020204030204" pitchFamily="49" charset="0"/>
            </a:endParaRPr>
          </a:p>
          <a:p>
            <a:pPr>
              <a:defRPr sz="4400" b="1">
                <a:solidFill>
                  <a:srgbClr val="193264"/>
                </a:solidFill>
              </a:defRPr>
            </a:pPr>
            <a:r>
              <a:rPr dirty="0">
                <a:latin typeface="Consolas" panose="020B0609020204030204" pitchFamily="49" charset="0"/>
              </a:rPr>
              <a:t> Segmented Marketing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3622" y="2202810"/>
            <a:ext cx="8231777" cy="3600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b="1" dirty="0">
                <a:latin typeface="Consolas" panose="020B0609020204030204" pitchFamily="49" charset="0"/>
              </a:rPr>
              <a:t>Cluster-Specific Marketing Campaigns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dirty="0">
                <a:latin typeface="Consolas" panose="020B0609020204030204" pitchFamily="49" charset="0"/>
              </a:rPr>
              <a:t>VIP Segment: Email-based personalized offers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dirty="0">
                <a:latin typeface="Consolas" panose="020B0609020204030204" pitchFamily="49" charset="0"/>
              </a:rPr>
              <a:t>VIP Segment: Quarterly business reviews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dirty="0">
                <a:latin typeface="Consolas" panose="020B0609020204030204" pitchFamily="49" charset="0"/>
              </a:rPr>
              <a:t>Retail Segment: Email newsletters with product recommendations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dirty="0">
                <a:latin typeface="Consolas" panose="020B0609020204030204" pitchFamily="49" charset="0"/>
              </a:rPr>
              <a:t>Retail Segment: Loyalty points program for repeat purchases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b="1" dirty="0">
                <a:latin typeface="Consolas" panose="020B0609020204030204" pitchFamily="49" charset="0"/>
              </a:rPr>
              <a:t>Engagement Strategy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dirty="0">
                <a:latin typeface="Consolas" panose="020B0609020204030204" pitchFamily="49" charset="0"/>
              </a:rPr>
              <a:t>Monitor cluster movements: Flag at-risk customers early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dirty="0">
                <a:latin typeface="Consolas" panose="020B0609020204030204" pitchFamily="49" charset="0"/>
              </a:rPr>
              <a:t>Win-back campaigns: Reactivate lapsed customers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dirty="0">
                <a:latin typeface="Consolas" panose="020B0609020204030204" pitchFamily="49" charset="0"/>
              </a:rPr>
              <a:t>Upsell opportunities: Move customers to higher-value cluster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095486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93264"/>
                </a:solidFill>
              </a:defRPr>
            </a:pPr>
            <a:r>
              <a:rPr sz="3200" dirty="0">
                <a:latin typeface="Consolas" panose="020B0609020204030204" pitchFamily="49" charset="0"/>
              </a:rPr>
              <a:t>Focus: High-Value Customer Segments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28562"/>
            <a:ext cx="7863840" cy="32008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>
                <a:latin typeface="Consolas" panose="020B0609020204030204" pitchFamily="49" charset="0"/>
              </a:rPr>
              <a:t>Top 25% Spenders Analysis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dirty="0">
                <a:latin typeface="Consolas" panose="020B0609020204030204" pitchFamily="49" charset="0"/>
              </a:rPr>
              <a:t>Segment Size: 1,471 customers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dirty="0">
                <a:latin typeface="Consolas" panose="020B0609020204030204" pitchFamily="49" charset="0"/>
              </a:rPr>
              <a:t>Spending Threshold: £2,304+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dirty="0">
                <a:latin typeface="Consolas" panose="020B0609020204030204" pitchFamily="49" charset="0"/>
              </a:rPr>
              <a:t>Revenue Contribution: ~80% of total revenue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>
                <a:latin typeface="Consolas" panose="020B0609020204030204" pitchFamily="49" charset="0"/>
              </a:rPr>
              <a:t>Characteristics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dirty="0">
                <a:latin typeface="Consolas" panose="020B0609020204030204" pitchFamily="49" charset="0"/>
              </a:rPr>
              <a:t>VIP High-Value: All 24 bulk buyers (ultra-high value)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dirty="0">
                <a:latin typeface="Consolas" panose="020B0609020204030204" pitchFamily="49" charset="0"/>
              </a:rPr>
              <a:t>Retail High-Value: 1,447 customers (premium retail)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dirty="0">
                <a:latin typeface="Consolas" panose="020B0609020204030204" pitchFamily="49" charset="0"/>
              </a:rPr>
              <a:t>Frequency: Higher transaction counts than average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7337265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93264"/>
                </a:solidFill>
              </a:defRPr>
            </a:pPr>
            <a:r>
              <a:rPr dirty="0">
                <a:latin typeface="Consolas" panose="020B0609020204030204" pitchFamily="49" charset="0"/>
              </a:rPr>
              <a:t>Conclusion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52451"/>
            <a:ext cx="7863840" cy="4001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>
                <a:latin typeface="Consolas" panose="020B0609020204030204" pitchFamily="49" charset="0"/>
              </a:rPr>
              <a:t> </a:t>
            </a:r>
            <a:r>
              <a:rPr b="1" dirty="0">
                <a:latin typeface="Consolas" panose="020B0609020204030204" pitchFamily="49" charset="0"/>
              </a:rPr>
              <a:t>Analysis Completed Successfully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dirty="0">
                <a:latin typeface="Consolas" panose="020B0609020204030204" pitchFamily="49" charset="0"/>
              </a:rPr>
              <a:t>Customer segmentation: K-Means + Deep Learning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dirty="0">
                <a:latin typeface="Consolas" panose="020B0609020204030204" pitchFamily="49" charset="0"/>
              </a:rPr>
              <a:t>Product affinity: Association rules mining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dirty="0">
                <a:latin typeface="Consolas" panose="020B0609020204030204" pitchFamily="49" charset="0"/>
              </a:rPr>
              <a:t>Business recommendations: Actionable strategies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b="1" dirty="0">
                <a:latin typeface="Consolas" panose="020B0609020204030204" pitchFamily="49" charset="0"/>
              </a:rPr>
              <a:t> Next Steps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dirty="0">
                <a:latin typeface="Consolas" panose="020B0609020204030204" pitchFamily="49" charset="0"/>
              </a:rPr>
              <a:t>Implement VIP account management program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dirty="0">
                <a:latin typeface="Consolas" panose="020B0609020204030204" pitchFamily="49" charset="0"/>
              </a:rPr>
              <a:t>Launch bundled product offerings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dirty="0">
                <a:latin typeface="Consolas" panose="020B0609020204030204" pitchFamily="49" charset="0"/>
              </a:rPr>
              <a:t>Deploy segmented email marketing campaigns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dirty="0">
                <a:latin typeface="Consolas" panose="020B0609020204030204" pitchFamily="49" charset="0"/>
              </a:rPr>
              <a:t>Monitor cluster migrations quarterly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dirty="0">
                <a:latin typeface="Consolas" panose="020B0609020204030204" pitchFamily="49" charset="0"/>
              </a:rPr>
              <a:t>Re-run analysis annually for trend analysis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</TotalTime>
  <Words>1201</Words>
  <Application>Microsoft Office PowerPoint</Application>
  <PresentationFormat>On-screen Show (4:3)</PresentationFormat>
  <Paragraphs>144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Calibri</vt:lpstr>
      <vt:lpstr>Consolas</vt:lpstr>
      <vt:lpstr>Office Theme</vt:lpstr>
      <vt:lpstr>PowerPoint Presentation</vt:lpstr>
      <vt:lpstr>Assignment overview</vt:lpstr>
      <vt:lpstr>Dataset Overview</vt:lpstr>
      <vt:lpstr>PowerPoint Presentation</vt:lpstr>
      <vt:lpstr>Feature Scaling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arineitwe thomas</cp:lastModifiedBy>
  <cp:revision>15</cp:revision>
  <dcterms:created xsi:type="dcterms:W3CDTF">2013-01-27T09:14:16Z</dcterms:created>
  <dcterms:modified xsi:type="dcterms:W3CDTF">2025-12-13T07:55:59Z</dcterms:modified>
  <cp:category/>
</cp:coreProperties>
</file>