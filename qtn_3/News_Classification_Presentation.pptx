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0" r:id="rId3"/>
    <p:sldId id="258" r:id="rId4"/>
    <p:sldId id="259" r:id="rId5"/>
    <p:sldId id="282" r:id="rId6"/>
    <p:sldId id="260" r:id="rId7"/>
    <p:sldId id="261" r:id="rId8"/>
    <p:sldId id="262" r:id="rId9"/>
    <p:sldId id="263" r:id="rId10"/>
    <p:sldId id="264" r:id="rId11"/>
    <p:sldId id="265" r:id="rId12"/>
    <p:sldId id="266" r:id="rId13"/>
    <p:sldId id="267" r:id="rId14"/>
    <p:sldId id="268" r:id="rId15"/>
    <p:sldId id="269" r:id="rId16"/>
    <p:sldId id="270" r:id="rId17"/>
    <p:sldId id="281" r:id="rId18"/>
    <p:sldId id="272" r:id="rId19"/>
    <p:sldId id="273" r:id="rId20"/>
    <p:sldId id="274" r:id="rId21"/>
    <p:sldId id="275" r:id="rId22"/>
    <p:sldId id="276" r:id="rId23"/>
    <p:sldId id="277" r:id="rId24"/>
    <p:sldId id="278" r:id="rId25"/>
    <p:sldId id="279"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13" autoAdjust="0"/>
    <p:restoredTop sz="94660"/>
  </p:normalViewPr>
  <p:slideViewPr>
    <p:cSldViewPr snapToGrid="0" snapToObjects="1">
      <p:cViewPr varScale="1">
        <p:scale>
          <a:sx n="59" d="100"/>
          <a:sy n="59" d="100"/>
        </p:scale>
        <p:origin x="94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675" y="653143"/>
            <a:ext cx="8562537" cy="1200329"/>
          </a:xfrm>
          <a:prstGeom prst="rect">
            <a:avLst/>
          </a:prstGeom>
          <a:noFill/>
        </p:spPr>
        <p:txBody>
          <a:bodyPr wrap="none">
            <a:spAutoFit/>
          </a:bodyPr>
          <a:lstStyle/>
          <a:p>
            <a:pPr algn="ctr">
              <a:defRPr sz="3600" b="1">
                <a:solidFill>
                  <a:srgbClr val="003366"/>
                </a:solidFill>
              </a:defRPr>
            </a:pPr>
            <a:r>
              <a:rPr dirty="0"/>
              <a:t>News Classification, Topic Clustering,</a:t>
            </a:r>
          </a:p>
          <a:p>
            <a:r>
              <a:rPr sz="3600" b="1" dirty="0">
                <a:solidFill>
                  <a:srgbClr val="003366"/>
                </a:solidFill>
              </a:rPr>
              <a:t>and Reinforcement Learning Decision Agent</a:t>
            </a:r>
          </a:p>
        </p:txBody>
      </p:sp>
      <p:sp>
        <p:nvSpPr>
          <p:cNvPr id="3" name="TextBox 2"/>
          <p:cNvSpPr txBox="1"/>
          <p:nvPr/>
        </p:nvSpPr>
        <p:spPr>
          <a:xfrm>
            <a:off x="272142" y="2522226"/>
            <a:ext cx="8229600" cy="731520"/>
          </a:xfrm>
          <a:prstGeom prst="rect">
            <a:avLst/>
          </a:prstGeom>
          <a:noFill/>
        </p:spPr>
        <p:txBody>
          <a:bodyPr wrap="none">
            <a:spAutoFit/>
          </a:bodyPr>
          <a:lstStyle/>
          <a:p>
            <a:pPr algn="ctr">
              <a:defRPr sz="2400">
                <a:solidFill>
                  <a:srgbClr val="1F4E79"/>
                </a:solidFill>
              </a:defRPr>
            </a:pPr>
            <a:r>
              <a:rPr dirty="0"/>
              <a:t>BBC News Dataset Analysis</a:t>
            </a:r>
          </a:p>
        </p:txBody>
      </p:sp>
      <p:sp>
        <p:nvSpPr>
          <p:cNvPr id="4" name="TextBox 3"/>
          <p:cNvSpPr txBox="1"/>
          <p:nvPr/>
        </p:nvSpPr>
        <p:spPr>
          <a:xfrm>
            <a:off x="3388912" y="3579593"/>
            <a:ext cx="1996059" cy="338554"/>
          </a:xfrm>
          <a:prstGeom prst="rect">
            <a:avLst/>
          </a:prstGeom>
          <a:noFill/>
        </p:spPr>
        <p:txBody>
          <a:bodyPr wrap="none">
            <a:spAutoFit/>
          </a:bodyPr>
          <a:lstStyle/>
          <a:p>
            <a:pPr algn="ctr">
              <a:defRPr sz="1600"/>
            </a:pPr>
            <a:r>
              <a:rPr lang="en-US" dirty="0"/>
              <a:t>ARINEITWE THOMAS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728AF-D83F-4A09-BCE2-178839C14145}"/>
              </a:ext>
            </a:extLst>
          </p:cNvPr>
          <p:cNvSpPr>
            <a:spLocks noGrp="1"/>
          </p:cNvSpPr>
          <p:nvPr>
            <p:ph type="title"/>
          </p:nvPr>
        </p:nvSpPr>
        <p:spPr/>
        <p:txBody>
          <a:bodyPr/>
          <a:lstStyle/>
          <a:p>
            <a:r>
              <a:rPr lang="en-US" dirty="0"/>
              <a:t>Assignment Overview</a:t>
            </a:r>
            <a:endParaRPr lang="en-UG" dirty="0"/>
          </a:p>
        </p:txBody>
      </p:sp>
      <p:sp>
        <p:nvSpPr>
          <p:cNvPr id="3" name="Content Placeholder 2">
            <a:extLst>
              <a:ext uri="{FF2B5EF4-FFF2-40B4-BE49-F238E27FC236}">
                <a16:creationId xmlns:a16="http://schemas.microsoft.com/office/drawing/2014/main" id="{E7853E02-7298-4374-9D22-17393FF08563}"/>
              </a:ext>
            </a:extLst>
          </p:cNvPr>
          <p:cNvSpPr>
            <a:spLocks noGrp="1"/>
          </p:cNvSpPr>
          <p:nvPr>
            <p:ph idx="1"/>
          </p:nvPr>
        </p:nvSpPr>
        <p:spPr>
          <a:xfrm>
            <a:off x="457200" y="1894116"/>
            <a:ext cx="7206343" cy="2438400"/>
          </a:xfrm>
        </p:spPr>
        <p:txBody>
          <a:bodyPr/>
          <a:lstStyle/>
          <a:p>
            <a:pPr marL="0" indent="0">
              <a:buNone/>
              <a:defRPr sz="2200" b="1"/>
            </a:pPr>
            <a:r>
              <a:rPr lang="en-US" dirty="0">
                <a:latin typeface="Consolas" panose="020B0609020204030204" pitchFamily="49" charset="0"/>
              </a:rPr>
              <a:t>Data Mining and Preprocessing</a:t>
            </a:r>
          </a:p>
          <a:p>
            <a:pPr marL="0" indent="0">
              <a:buNone/>
              <a:defRPr sz="2200" b="1"/>
            </a:pPr>
            <a:r>
              <a:rPr lang="en-US" dirty="0">
                <a:latin typeface="Consolas" panose="020B0609020204030204" pitchFamily="49" charset="0"/>
              </a:rPr>
              <a:t>Part B: Two News Classifiers (ML &amp; DL)</a:t>
            </a:r>
          </a:p>
          <a:p>
            <a:pPr marL="0" indent="0">
              <a:buNone/>
              <a:defRPr sz="2200" b="1"/>
            </a:pPr>
            <a:r>
              <a:rPr lang="en-US" dirty="0">
                <a:latin typeface="Consolas" panose="020B0609020204030204" pitchFamily="49" charset="0"/>
              </a:rPr>
              <a:t>Part C: Topic Clustering Analysis</a:t>
            </a:r>
          </a:p>
          <a:p>
            <a:pPr marL="0" indent="0">
              <a:buNone/>
              <a:defRPr sz="2200" b="1"/>
            </a:pPr>
            <a:r>
              <a:rPr lang="en-US" dirty="0">
                <a:latin typeface="Consolas" panose="020B0609020204030204" pitchFamily="49" charset="0"/>
              </a:rPr>
              <a:t>Part D: RL Decision Agent</a:t>
            </a:r>
          </a:p>
          <a:p>
            <a:pPr marL="0" indent="0">
              <a:buNone/>
              <a:defRPr sz="2200" b="1"/>
            </a:pPr>
            <a:r>
              <a:rPr lang="en-US" dirty="0">
                <a:latin typeface="Consolas" panose="020B0609020204030204" pitchFamily="49" charset="0"/>
              </a:rPr>
              <a:t>Results Comparison &amp; Conclusions</a:t>
            </a:r>
          </a:p>
          <a:p>
            <a:pPr marL="0" indent="0">
              <a:buNone/>
            </a:pPr>
            <a:endParaRPr lang="en-UG" dirty="0"/>
          </a:p>
        </p:txBody>
      </p:sp>
    </p:spTree>
    <p:extLst>
      <p:ext uri="{BB962C8B-B14F-4D97-AF65-F5344CB8AC3E}">
        <p14:creationId xmlns:p14="http://schemas.microsoft.com/office/powerpoint/2010/main" val="2620784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2800" b="1">
                <a:solidFill>
                  <a:srgbClr val="003366"/>
                </a:solidFill>
              </a:defRPr>
            </a:pPr>
            <a:r>
              <a:rPr sz="2800" b="1" dirty="0">
                <a:solidFill>
                  <a:srgbClr val="003366"/>
                </a:solidFill>
                <a:latin typeface="+mn-lt"/>
                <a:ea typeface="+mn-ea"/>
                <a:cs typeface="+mn-cs"/>
              </a:rPr>
              <a:t>Problem Statement</a:t>
            </a:r>
          </a:p>
        </p:txBody>
      </p:sp>
      <p:sp>
        <p:nvSpPr>
          <p:cNvPr id="3" name="Content Placeholder 2"/>
          <p:cNvSpPr>
            <a:spLocks noGrp="1"/>
          </p:cNvSpPr>
          <p:nvPr>
            <p:ph idx="1"/>
          </p:nvPr>
        </p:nvSpPr>
        <p:spPr/>
        <p:txBody>
          <a:bodyPr/>
          <a:lstStyle/>
          <a:p>
            <a:pPr marL="0" indent="0">
              <a:buNone/>
              <a:defRPr sz="2600" b="1"/>
            </a:pPr>
            <a:r>
              <a:rPr dirty="0">
                <a:latin typeface="Consolas" panose="020B0609020204030204" pitchFamily="49" charset="0"/>
              </a:rPr>
              <a:t>Media Monitoring Startup Challenge</a:t>
            </a:r>
          </a:p>
          <a:p>
            <a:pPr marL="0" indent="0">
              <a:buNone/>
              <a:defRPr sz="2000"/>
            </a:pPr>
            <a:r>
              <a:rPr b="1" dirty="0">
                <a:latin typeface="Consolas" panose="020B0609020204030204" pitchFamily="49" charset="0"/>
              </a:rPr>
              <a:t>Objective</a:t>
            </a:r>
            <a:r>
              <a:rPr dirty="0">
                <a:latin typeface="Consolas" panose="020B0609020204030204" pitchFamily="49" charset="0"/>
              </a:rPr>
              <a:t>: Automate news classification with intelligent model selection</a:t>
            </a:r>
            <a:br>
              <a:rPr dirty="0">
                <a:latin typeface="Consolas" panose="020B0609020204030204" pitchFamily="49" charset="0"/>
              </a:rPr>
            </a:br>
            <a:r>
              <a:rPr b="1" dirty="0">
                <a:latin typeface="Consolas" panose="020B0609020204030204" pitchFamily="49" charset="0"/>
              </a:rPr>
              <a:t>Key Requirements:</a:t>
            </a:r>
            <a:endParaRPr lang="en-US" b="1" dirty="0">
              <a:latin typeface="Consolas" panose="020B0609020204030204" pitchFamily="49" charset="0"/>
            </a:endParaRPr>
          </a:p>
          <a:p>
            <a:pPr>
              <a:defRPr sz="2000"/>
            </a:pPr>
            <a:r>
              <a:rPr sz="1800" dirty="0">
                <a:latin typeface="Consolas" panose="020B0609020204030204" pitchFamily="49" charset="0"/>
              </a:rPr>
              <a:t> Classify news articles into 5 categories</a:t>
            </a:r>
            <a:endParaRPr lang="en-US" sz="1800" dirty="0">
              <a:latin typeface="Consolas" panose="020B0609020204030204" pitchFamily="49" charset="0"/>
            </a:endParaRPr>
          </a:p>
          <a:p>
            <a:pPr>
              <a:defRPr sz="2000"/>
            </a:pPr>
            <a:r>
              <a:rPr sz="1800" dirty="0">
                <a:latin typeface="Consolas" panose="020B0609020204030204" pitchFamily="49" charset="0"/>
              </a:rPr>
              <a:t>Discover hidden topics through clustering</a:t>
            </a:r>
            <a:endParaRPr lang="en-US" sz="1800" dirty="0">
              <a:latin typeface="Consolas" panose="020B0609020204030204" pitchFamily="49" charset="0"/>
            </a:endParaRPr>
          </a:p>
          <a:p>
            <a:pPr>
              <a:defRPr sz="2000"/>
            </a:pPr>
            <a:r>
              <a:rPr sz="1800" dirty="0">
                <a:latin typeface="Consolas" panose="020B0609020204030204" pitchFamily="49" charset="0"/>
              </a:rPr>
              <a:t>Build an RL agent to decide:</a:t>
            </a:r>
            <a:endParaRPr lang="en-US" sz="1800" dirty="0">
              <a:latin typeface="Consolas" panose="020B0609020204030204" pitchFamily="49" charset="0"/>
            </a:endParaRPr>
          </a:p>
          <a:p>
            <a:pPr>
              <a:defRPr sz="2000"/>
            </a:pPr>
            <a:r>
              <a:rPr sz="1800" dirty="0">
                <a:latin typeface="Consolas" panose="020B0609020204030204" pitchFamily="49" charset="0"/>
              </a:rPr>
              <a:t> Use ML model?</a:t>
            </a:r>
            <a:endParaRPr lang="en-US" sz="1800" dirty="0">
              <a:latin typeface="Consolas" panose="020B0609020204030204" pitchFamily="49" charset="0"/>
            </a:endParaRPr>
          </a:p>
          <a:p>
            <a:pPr>
              <a:defRPr sz="2000"/>
            </a:pPr>
            <a:r>
              <a:rPr dirty="0">
                <a:latin typeface="Consolas" panose="020B0609020204030204" pitchFamily="49" charset="0"/>
              </a:rPr>
              <a:t> Use DL model?</a:t>
            </a:r>
            <a:endParaRPr lang="en-US" dirty="0">
              <a:latin typeface="Consolas" panose="020B0609020204030204" pitchFamily="49" charset="0"/>
            </a:endParaRPr>
          </a:p>
          <a:p>
            <a:pPr>
              <a:defRPr sz="2000"/>
            </a:pPr>
            <a:r>
              <a:rPr dirty="0">
                <a:latin typeface="Consolas" panose="020B0609020204030204" pitchFamily="49" charset="0"/>
              </a:rPr>
              <a:t> Escalate to human review?</a:t>
            </a:r>
          </a:p>
        </p:txBody>
      </p:sp>
      <p:sp>
        <p:nvSpPr>
          <p:cNvPr id="5" name="TextBox 4">
            <a:extLst>
              <a:ext uri="{FF2B5EF4-FFF2-40B4-BE49-F238E27FC236}">
                <a16:creationId xmlns:a16="http://schemas.microsoft.com/office/drawing/2014/main" id="{2FA015B0-C9AB-4204-8BDD-C2F9BDED7F90}"/>
              </a:ext>
            </a:extLst>
          </p:cNvPr>
          <p:cNvSpPr txBox="1"/>
          <p:nvPr/>
        </p:nvSpPr>
        <p:spPr>
          <a:xfrm>
            <a:off x="195943" y="5507129"/>
            <a:ext cx="8948057" cy="923330"/>
          </a:xfrm>
          <a:prstGeom prst="rect">
            <a:avLst/>
          </a:prstGeom>
          <a:noFill/>
        </p:spPr>
        <p:txBody>
          <a:bodyPr wrap="square">
            <a:spAutoFit/>
          </a:bodyPr>
          <a:lstStyle/>
          <a:p>
            <a:r>
              <a:rPr lang="en-US" b="1" dirty="0">
                <a:latin typeface="Consolas" panose="020B0609020204030204" pitchFamily="49" charset="0"/>
              </a:rPr>
              <a:t>The goal </a:t>
            </a:r>
            <a:r>
              <a:rPr lang="en-US" dirty="0">
                <a:latin typeface="Consolas" panose="020B0609020204030204" pitchFamily="49" charset="0"/>
              </a:rPr>
              <a:t>is to simulate a real-world decision-support system used by media organizations to manage large volumes of news content efficiently.</a:t>
            </a:r>
            <a:endParaRPr lang="en-UG" dirty="0">
              <a:latin typeface="Consolas" panose="020B0609020204030204" pitchFamily="49"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805"/>
            <a:ext cx="8229600" cy="721405"/>
          </a:xfrm>
        </p:spPr>
        <p:txBody>
          <a:bodyPr>
            <a:normAutofit/>
          </a:bodyPr>
          <a:lstStyle/>
          <a:p>
            <a:pPr>
              <a:defRPr sz="2800" b="1">
                <a:solidFill>
                  <a:srgbClr val="003366"/>
                </a:solidFill>
              </a:defRPr>
            </a:pPr>
            <a:r>
              <a:rPr sz="2800" b="1" dirty="0">
                <a:solidFill>
                  <a:srgbClr val="003366"/>
                </a:solidFill>
                <a:latin typeface="+mn-lt"/>
                <a:ea typeface="+mn-ea"/>
                <a:cs typeface="+mn-cs"/>
              </a:rPr>
              <a:t>Part A: Dataset Overview</a:t>
            </a:r>
          </a:p>
        </p:txBody>
      </p:sp>
      <p:sp>
        <p:nvSpPr>
          <p:cNvPr id="3" name="Content Placeholder 2"/>
          <p:cNvSpPr>
            <a:spLocks noGrp="1"/>
          </p:cNvSpPr>
          <p:nvPr>
            <p:ph idx="1"/>
          </p:nvPr>
        </p:nvSpPr>
        <p:spPr>
          <a:xfrm>
            <a:off x="457200" y="609600"/>
            <a:ext cx="8229600" cy="6041571"/>
          </a:xfrm>
        </p:spPr>
        <p:txBody>
          <a:bodyPr>
            <a:normAutofit/>
          </a:bodyPr>
          <a:lstStyle/>
          <a:p>
            <a:pPr>
              <a:defRPr sz="2600" b="1"/>
            </a:pPr>
            <a:r>
              <a:rPr dirty="0">
                <a:latin typeface="Consolas" panose="020B0609020204030204" pitchFamily="49" charset="0"/>
              </a:rPr>
              <a:t>BBC News Dataset</a:t>
            </a:r>
          </a:p>
          <a:p>
            <a:pPr>
              <a:defRPr sz="2000"/>
            </a:pPr>
            <a:r>
              <a:rPr dirty="0">
                <a:latin typeface="Consolas" panose="020B0609020204030204" pitchFamily="49" charset="0"/>
              </a:rPr>
              <a:t> Total Articles: 750 (balanced: 150 per category)</a:t>
            </a:r>
          </a:p>
          <a:p>
            <a:pPr>
              <a:defRPr sz="2000"/>
            </a:pPr>
            <a:r>
              <a:rPr dirty="0">
                <a:latin typeface="Consolas" panose="020B0609020204030204" pitchFamily="49" charset="0"/>
              </a:rPr>
              <a:t> Categories: Business, Entertainment, Politics, Sport, Tech</a:t>
            </a:r>
          </a:p>
          <a:p>
            <a:pPr>
              <a:defRPr sz="2000"/>
            </a:pPr>
            <a:r>
              <a:rPr dirty="0">
                <a:latin typeface="Consolas" panose="020B0609020204030204" pitchFamily="49" charset="0"/>
              </a:rPr>
              <a:t> Train/Test Split: 600/150 (80/20)</a:t>
            </a:r>
            <a:endParaRPr lang="en-US" dirty="0">
              <a:latin typeface="Consolas" panose="020B0609020204030204" pitchFamily="49" charset="0"/>
            </a:endParaRPr>
          </a:p>
          <a:p>
            <a:pPr marL="0" indent="0">
              <a:buNone/>
              <a:defRPr sz="2000"/>
            </a:pPr>
            <a:br>
              <a:rPr dirty="0">
                <a:latin typeface="Consolas" panose="020B0609020204030204" pitchFamily="49" charset="0"/>
              </a:rPr>
            </a:br>
            <a:endParaRPr lang="en-US" dirty="0">
              <a:latin typeface="Consolas" panose="020B0609020204030204" pitchFamily="49" charset="0"/>
            </a:endParaRPr>
          </a:p>
          <a:p>
            <a:pPr marL="0" indent="0">
              <a:buNone/>
              <a:defRPr sz="2000"/>
            </a:pPr>
            <a:endParaRPr lang="en-US" b="1" dirty="0">
              <a:latin typeface="Consolas" panose="020B0609020204030204" pitchFamily="49" charset="0"/>
            </a:endParaRPr>
          </a:p>
          <a:p>
            <a:pPr marL="0" indent="0">
              <a:buNone/>
              <a:defRPr sz="2000"/>
            </a:pPr>
            <a:endParaRPr lang="en-US" b="1" dirty="0">
              <a:latin typeface="Consolas" panose="020B0609020204030204" pitchFamily="49" charset="0"/>
            </a:endParaRPr>
          </a:p>
          <a:p>
            <a:pPr marL="0" indent="0">
              <a:buNone/>
              <a:defRPr sz="2000"/>
            </a:pPr>
            <a:endParaRPr lang="en-US" b="1" dirty="0">
              <a:latin typeface="Consolas" panose="020B0609020204030204" pitchFamily="49" charset="0"/>
            </a:endParaRPr>
          </a:p>
          <a:p>
            <a:pPr marL="0" indent="0">
              <a:buNone/>
              <a:defRPr sz="2000"/>
            </a:pPr>
            <a:endParaRPr lang="en-US" b="1" dirty="0">
              <a:latin typeface="Consolas" panose="020B0609020204030204" pitchFamily="49" charset="0"/>
            </a:endParaRPr>
          </a:p>
        </p:txBody>
      </p:sp>
      <p:pic>
        <p:nvPicPr>
          <p:cNvPr id="5" name="Picture 4">
            <a:extLst>
              <a:ext uri="{FF2B5EF4-FFF2-40B4-BE49-F238E27FC236}">
                <a16:creationId xmlns:a16="http://schemas.microsoft.com/office/drawing/2014/main" id="{F215DB7A-C99A-4615-AFA5-343D6CB021EF}"/>
              </a:ext>
            </a:extLst>
          </p:cNvPr>
          <p:cNvPicPr>
            <a:picLocks noChangeAspect="1"/>
          </p:cNvPicPr>
          <p:nvPr/>
        </p:nvPicPr>
        <p:blipFill>
          <a:blip r:embed="rId2"/>
          <a:stretch>
            <a:fillRect/>
          </a:stretch>
        </p:blipFill>
        <p:spPr>
          <a:xfrm>
            <a:off x="275742" y="2514387"/>
            <a:ext cx="5733172" cy="2527017"/>
          </a:xfrm>
          <a:prstGeom prst="rect">
            <a:avLst/>
          </a:prstGeom>
        </p:spPr>
      </p:pic>
      <p:pic>
        <p:nvPicPr>
          <p:cNvPr id="8" name="Picture 7">
            <a:extLst>
              <a:ext uri="{FF2B5EF4-FFF2-40B4-BE49-F238E27FC236}">
                <a16:creationId xmlns:a16="http://schemas.microsoft.com/office/drawing/2014/main" id="{BE3B1E63-425D-4225-863C-9917A26173C0}"/>
              </a:ext>
            </a:extLst>
          </p:cNvPr>
          <p:cNvPicPr>
            <a:picLocks noChangeAspect="1"/>
          </p:cNvPicPr>
          <p:nvPr/>
        </p:nvPicPr>
        <p:blipFill>
          <a:blip r:embed="rId3"/>
          <a:stretch>
            <a:fillRect/>
          </a:stretch>
        </p:blipFill>
        <p:spPr>
          <a:xfrm>
            <a:off x="4964725" y="5041404"/>
            <a:ext cx="4059534" cy="17302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A4909-B2A7-4EAB-B57F-7B4A6739E454}"/>
              </a:ext>
            </a:extLst>
          </p:cNvPr>
          <p:cNvSpPr>
            <a:spLocks noGrp="1"/>
          </p:cNvSpPr>
          <p:nvPr>
            <p:ph type="title"/>
          </p:nvPr>
        </p:nvSpPr>
        <p:spPr>
          <a:xfrm>
            <a:off x="457200" y="410708"/>
            <a:ext cx="8229600" cy="315686"/>
          </a:xfrm>
        </p:spPr>
        <p:txBody>
          <a:bodyPr>
            <a:normAutofit fontScale="90000"/>
          </a:bodyPr>
          <a:lstStyle/>
          <a:p>
            <a:r>
              <a:rPr lang="en-US" b="1" dirty="0">
                <a:latin typeface="Consolas" panose="020B0609020204030204" pitchFamily="49" charset="0"/>
              </a:rPr>
              <a:t>Preprocessing Pipeline</a:t>
            </a:r>
            <a:r>
              <a:rPr lang="en-US" dirty="0">
                <a:latin typeface="Consolas" panose="020B0609020204030204" pitchFamily="49" charset="0"/>
              </a:rPr>
              <a:t>:</a:t>
            </a:r>
            <a:br>
              <a:rPr lang="en-US" dirty="0">
                <a:latin typeface="Consolas" panose="020B0609020204030204" pitchFamily="49" charset="0"/>
              </a:rPr>
            </a:br>
            <a:endParaRPr lang="en-UG" dirty="0"/>
          </a:p>
        </p:txBody>
      </p:sp>
      <p:sp>
        <p:nvSpPr>
          <p:cNvPr id="3" name="Content Placeholder 2">
            <a:extLst>
              <a:ext uri="{FF2B5EF4-FFF2-40B4-BE49-F238E27FC236}">
                <a16:creationId xmlns:a16="http://schemas.microsoft.com/office/drawing/2014/main" id="{CD819E7D-9FC0-48AF-B5B9-C66D9459B3F3}"/>
              </a:ext>
            </a:extLst>
          </p:cNvPr>
          <p:cNvSpPr>
            <a:spLocks noGrp="1"/>
          </p:cNvSpPr>
          <p:nvPr>
            <p:ph idx="1"/>
          </p:nvPr>
        </p:nvSpPr>
        <p:spPr>
          <a:xfrm>
            <a:off x="166476" y="420818"/>
            <a:ext cx="4561114" cy="1450745"/>
          </a:xfrm>
        </p:spPr>
        <p:txBody>
          <a:bodyPr>
            <a:normAutofit/>
          </a:bodyPr>
          <a:lstStyle/>
          <a:p>
            <a:pPr marL="0" indent="0">
              <a:buNone/>
              <a:defRPr sz="2000"/>
            </a:pPr>
            <a:r>
              <a:rPr lang="en-US" sz="1400" dirty="0">
                <a:latin typeface="Consolas" panose="020B0609020204030204" pitchFamily="49" charset="0"/>
              </a:rPr>
              <a:t>Lowercase conversion</a:t>
            </a:r>
          </a:p>
          <a:p>
            <a:pPr lvl="1">
              <a:defRPr sz="1800"/>
            </a:pPr>
            <a:r>
              <a:rPr lang="en-US" sz="1200" dirty="0">
                <a:latin typeface="Consolas" panose="020B0609020204030204" pitchFamily="49" charset="0"/>
              </a:rPr>
              <a:t>  HTML tag removal</a:t>
            </a:r>
          </a:p>
          <a:p>
            <a:pPr lvl="1">
              <a:defRPr sz="1800"/>
            </a:pPr>
            <a:r>
              <a:rPr lang="en-US" sz="1200" dirty="0">
                <a:latin typeface="Consolas" panose="020B0609020204030204" pitchFamily="49" charset="0"/>
              </a:rPr>
              <a:t>   Punctuation removal</a:t>
            </a:r>
          </a:p>
          <a:p>
            <a:pPr lvl="1">
              <a:defRPr sz="1800"/>
            </a:pPr>
            <a:r>
              <a:rPr lang="en-US" sz="1200" dirty="0">
                <a:latin typeface="Consolas" panose="020B0609020204030204" pitchFamily="49" charset="0"/>
              </a:rPr>
              <a:t>  TF-IDF vectors (3000 features) for ML</a:t>
            </a:r>
          </a:p>
          <a:p>
            <a:pPr lvl="1">
              <a:defRPr sz="1800"/>
            </a:pPr>
            <a:r>
              <a:rPr lang="en-US" sz="1200" dirty="0">
                <a:latin typeface="Consolas" panose="020B0609020204030204" pitchFamily="49" charset="0"/>
              </a:rPr>
              <a:t>  Tokenized sequences (300 tokens) for DL</a:t>
            </a:r>
          </a:p>
          <a:p>
            <a:endParaRPr lang="en-UG" sz="2000" dirty="0"/>
          </a:p>
        </p:txBody>
      </p:sp>
      <p:pic>
        <p:nvPicPr>
          <p:cNvPr id="5" name="Picture 4">
            <a:extLst>
              <a:ext uri="{FF2B5EF4-FFF2-40B4-BE49-F238E27FC236}">
                <a16:creationId xmlns:a16="http://schemas.microsoft.com/office/drawing/2014/main" id="{F8A95B84-868C-4211-9A1A-0E652609F00B}"/>
              </a:ext>
            </a:extLst>
          </p:cNvPr>
          <p:cNvPicPr>
            <a:picLocks noChangeAspect="1"/>
          </p:cNvPicPr>
          <p:nvPr/>
        </p:nvPicPr>
        <p:blipFill>
          <a:blip r:embed="rId2"/>
          <a:stretch>
            <a:fillRect/>
          </a:stretch>
        </p:blipFill>
        <p:spPr>
          <a:xfrm>
            <a:off x="41618" y="1838103"/>
            <a:ext cx="3585817" cy="4234543"/>
          </a:xfrm>
          <a:prstGeom prst="rect">
            <a:avLst/>
          </a:prstGeom>
        </p:spPr>
      </p:pic>
      <p:pic>
        <p:nvPicPr>
          <p:cNvPr id="7" name="Picture 6">
            <a:extLst>
              <a:ext uri="{FF2B5EF4-FFF2-40B4-BE49-F238E27FC236}">
                <a16:creationId xmlns:a16="http://schemas.microsoft.com/office/drawing/2014/main" id="{10C81CC7-68F6-4710-92B1-1C955E56CB64}"/>
              </a:ext>
            </a:extLst>
          </p:cNvPr>
          <p:cNvPicPr>
            <a:picLocks noChangeAspect="1"/>
          </p:cNvPicPr>
          <p:nvPr/>
        </p:nvPicPr>
        <p:blipFill>
          <a:blip r:embed="rId3"/>
          <a:stretch>
            <a:fillRect/>
          </a:stretch>
        </p:blipFill>
        <p:spPr>
          <a:xfrm>
            <a:off x="3797870" y="5118735"/>
            <a:ext cx="3437394" cy="1571078"/>
          </a:xfrm>
          <a:prstGeom prst="rect">
            <a:avLst/>
          </a:prstGeom>
        </p:spPr>
      </p:pic>
      <p:pic>
        <p:nvPicPr>
          <p:cNvPr id="9" name="Picture 8">
            <a:extLst>
              <a:ext uri="{FF2B5EF4-FFF2-40B4-BE49-F238E27FC236}">
                <a16:creationId xmlns:a16="http://schemas.microsoft.com/office/drawing/2014/main" id="{C2B158DD-2088-4064-9498-6D6AF3D2C1B2}"/>
              </a:ext>
            </a:extLst>
          </p:cNvPr>
          <p:cNvPicPr>
            <a:picLocks noChangeAspect="1"/>
          </p:cNvPicPr>
          <p:nvPr/>
        </p:nvPicPr>
        <p:blipFill>
          <a:blip r:embed="rId4"/>
          <a:stretch>
            <a:fillRect/>
          </a:stretch>
        </p:blipFill>
        <p:spPr>
          <a:xfrm>
            <a:off x="3981509" y="1664521"/>
            <a:ext cx="4996015" cy="1654629"/>
          </a:xfrm>
          <a:prstGeom prst="rect">
            <a:avLst/>
          </a:prstGeom>
        </p:spPr>
      </p:pic>
      <p:pic>
        <p:nvPicPr>
          <p:cNvPr id="11" name="Picture 10">
            <a:extLst>
              <a:ext uri="{FF2B5EF4-FFF2-40B4-BE49-F238E27FC236}">
                <a16:creationId xmlns:a16="http://schemas.microsoft.com/office/drawing/2014/main" id="{24291252-C16F-4C6F-95CF-899973EE47D4}"/>
              </a:ext>
            </a:extLst>
          </p:cNvPr>
          <p:cNvPicPr>
            <a:picLocks noChangeAspect="1"/>
          </p:cNvPicPr>
          <p:nvPr/>
        </p:nvPicPr>
        <p:blipFill>
          <a:blip r:embed="rId5"/>
          <a:stretch>
            <a:fillRect/>
          </a:stretch>
        </p:blipFill>
        <p:spPr>
          <a:xfrm>
            <a:off x="6918585" y="3319150"/>
            <a:ext cx="2058939" cy="1669140"/>
          </a:xfrm>
          <a:prstGeom prst="rect">
            <a:avLst/>
          </a:prstGeom>
        </p:spPr>
      </p:pic>
    </p:spTree>
    <p:extLst>
      <p:ext uri="{BB962C8B-B14F-4D97-AF65-F5344CB8AC3E}">
        <p14:creationId xmlns:p14="http://schemas.microsoft.com/office/powerpoint/2010/main" val="3561792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5667"/>
            <a:ext cx="8229600" cy="548640"/>
          </a:xfrm>
          <a:prstGeom prst="rect">
            <a:avLst/>
          </a:prstGeom>
          <a:noFill/>
        </p:spPr>
        <p:txBody>
          <a:bodyPr wrap="none">
            <a:spAutoFit/>
          </a:bodyPr>
          <a:lstStyle/>
          <a:p>
            <a:pPr>
              <a:defRPr sz="2800" b="1">
                <a:solidFill>
                  <a:srgbClr val="003366"/>
                </a:solidFill>
              </a:defRPr>
            </a:pPr>
            <a:r>
              <a:rPr dirty="0"/>
              <a:t>Class Distribution</a:t>
            </a:r>
          </a:p>
        </p:txBody>
      </p:sp>
      <p:sp>
        <p:nvSpPr>
          <p:cNvPr id="4" name="TextBox 3"/>
          <p:cNvSpPr txBox="1"/>
          <p:nvPr/>
        </p:nvSpPr>
        <p:spPr>
          <a:xfrm>
            <a:off x="457200" y="5900057"/>
            <a:ext cx="7913914" cy="646331"/>
          </a:xfrm>
          <a:prstGeom prst="rect">
            <a:avLst/>
          </a:prstGeom>
          <a:noFill/>
        </p:spPr>
        <p:txBody>
          <a:bodyPr wrap="square">
            <a:spAutoFit/>
          </a:bodyPr>
          <a:lstStyle/>
          <a:p>
            <a:r>
              <a:rPr dirty="0">
                <a:latin typeface="Consolas" panose="020B0609020204030204" pitchFamily="49" charset="0"/>
              </a:rPr>
              <a:t>This balanced distribution ensures fair evaluation across all classes and prevents bias in model training.</a:t>
            </a:r>
          </a:p>
        </p:txBody>
      </p:sp>
      <p:pic>
        <p:nvPicPr>
          <p:cNvPr id="5" name="Picture 4" descr="image.png"/>
          <p:cNvPicPr>
            <a:picLocks noChangeAspect="1"/>
          </p:cNvPicPr>
          <p:nvPr/>
        </p:nvPicPr>
        <p:blipFill>
          <a:blip r:embed="rId2"/>
          <a:stretch>
            <a:fillRect/>
          </a:stretch>
        </p:blipFill>
        <p:spPr>
          <a:xfrm>
            <a:off x="440871" y="1254740"/>
            <a:ext cx="7500257" cy="4474370"/>
          </a:xfrm>
          <a:prstGeom prst="rect">
            <a:avLst/>
          </a:prstGeom>
        </p:spPr>
      </p:pic>
      <p:sp>
        <p:nvSpPr>
          <p:cNvPr id="6" name="TextBox 5">
            <a:extLst>
              <a:ext uri="{FF2B5EF4-FFF2-40B4-BE49-F238E27FC236}">
                <a16:creationId xmlns:a16="http://schemas.microsoft.com/office/drawing/2014/main" id="{FE085B70-F08B-4EA2-9F0C-D887DF1044EB}"/>
              </a:ext>
            </a:extLst>
          </p:cNvPr>
          <p:cNvSpPr txBox="1"/>
          <p:nvPr/>
        </p:nvSpPr>
        <p:spPr>
          <a:xfrm>
            <a:off x="1202872" y="731520"/>
            <a:ext cx="4996542" cy="523220"/>
          </a:xfrm>
          <a:prstGeom prst="rect">
            <a:avLst/>
          </a:prstGeom>
          <a:noFill/>
        </p:spPr>
        <p:txBody>
          <a:bodyPr wrap="square">
            <a:spAutoFit/>
          </a:bodyPr>
          <a:lstStyle/>
          <a:p>
            <a:pPr algn="ctr">
              <a:defRPr sz="1400" i="1">
                <a:solidFill>
                  <a:srgbClr val="404040"/>
                </a:solidFill>
              </a:defRPr>
            </a:pPr>
            <a:r>
              <a:rPr lang="en-US" dirty="0">
                <a:latin typeface="Consolas" panose="020B0609020204030204" pitchFamily="49" charset="0"/>
              </a:rPr>
              <a:t>Category Distribution - Balanced dataset with 150 articles per category.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63562"/>
          </a:xfrm>
        </p:spPr>
        <p:txBody>
          <a:bodyPr>
            <a:normAutofit/>
          </a:bodyPr>
          <a:lstStyle/>
          <a:p>
            <a:pPr>
              <a:defRPr sz="2800" b="1">
                <a:solidFill>
                  <a:srgbClr val="003366"/>
                </a:solidFill>
              </a:defRPr>
            </a:pPr>
            <a:r>
              <a:rPr sz="2800" b="1" dirty="0">
                <a:solidFill>
                  <a:srgbClr val="003366"/>
                </a:solidFill>
                <a:latin typeface="+mn-lt"/>
                <a:ea typeface="+mn-ea"/>
                <a:cs typeface="+mn-cs"/>
              </a:rPr>
              <a:t>Part B: Two News Classifiers</a:t>
            </a:r>
          </a:p>
        </p:txBody>
      </p:sp>
      <p:sp>
        <p:nvSpPr>
          <p:cNvPr id="3" name="Content Placeholder 2"/>
          <p:cNvSpPr>
            <a:spLocks noGrp="1"/>
          </p:cNvSpPr>
          <p:nvPr>
            <p:ph idx="1"/>
          </p:nvPr>
        </p:nvSpPr>
        <p:spPr>
          <a:xfrm>
            <a:off x="164273" y="556649"/>
            <a:ext cx="8229600" cy="1937657"/>
          </a:xfrm>
        </p:spPr>
        <p:txBody>
          <a:bodyPr>
            <a:normAutofit fontScale="92500" lnSpcReduction="10000"/>
          </a:bodyPr>
          <a:lstStyle/>
          <a:p>
            <a:pPr marL="0" indent="0">
              <a:buNone/>
              <a:defRPr sz="2600" b="1"/>
            </a:pPr>
            <a:r>
              <a:rPr dirty="0">
                <a:latin typeface="Consolas" panose="020B0609020204030204" pitchFamily="49" charset="0"/>
              </a:rPr>
              <a:t>Approach: </a:t>
            </a:r>
            <a:r>
              <a:rPr sz="1800" dirty="0">
                <a:latin typeface="Consolas" panose="020B0609020204030204" pitchFamily="49" charset="0"/>
              </a:rPr>
              <a:t>Compare Classical ML vs Deep Learning</a:t>
            </a:r>
          </a:p>
          <a:p>
            <a:pPr marL="0" indent="0">
              <a:buNone/>
            </a:pPr>
            <a:r>
              <a:rPr dirty="0">
                <a:latin typeface="Consolas" panose="020B0609020204030204" pitchFamily="49" charset="0"/>
              </a:rPr>
              <a:t>1. Classical ML Model:</a:t>
            </a:r>
          </a:p>
          <a:p>
            <a:pPr marL="457200" lvl="1" indent="0">
              <a:buNone/>
              <a:defRPr sz="1800"/>
            </a:pPr>
            <a:r>
              <a:rPr dirty="0">
                <a:latin typeface="Consolas" panose="020B0609020204030204" pitchFamily="49" charset="0"/>
              </a:rPr>
              <a:t> • Algorithm: Logistic Regression</a:t>
            </a:r>
          </a:p>
          <a:p>
            <a:pPr marL="457200" lvl="1" indent="0">
              <a:buNone/>
              <a:defRPr sz="1800"/>
            </a:pPr>
            <a:r>
              <a:rPr dirty="0">
                <a:latin typeface="Consolas" panose="020B0609020204030204" pitchFamily="49" charset="0"/>
              </a:rPr>
              <a:t>• Input: TF-IDF vectors (3000 features)</a:t>
            </a:r>
          </a:p>
          <a:p>
            <a:pPr marL="457200" lvl="1" indent="0">
              <a:buNone/>
              <a:defRPr sz="1800"/>
            </a:pPr>
            <a:r>
              <a:rPr dirty="0">
                <a:latin typeface="Consolas" panose="020B0609020204030204" pitchFamily="49" charset="0"/>
              </a:rPr>
              <a:t>• Solver: LBFGS (multinomial)</a:t>
            </a:r>
          </a:p>
          <a:p>
            <a:pPr marL="0" indent="0">
              <a:buNone/>
            </a:pPr>
            <a:endParaRPr dirty="0">
              <a:latin typeface="Consolas" panose="020B0609020204030204" pitchFamily="49" charset="0"/>
            </a:endParaRPr>
          </a:p>
        </p:txBody>
      </p:sp>
      <p:pic>
        <p:nvPicPr>
          <p:cNvPr id="5" name="Picture 4">
            <a:extLst>
              <a:ext uri="{FF2B5EF4-FFF2-40B4-BE49-F238E27FC236}">
                <a16:creationId xmlns:a16="http://schemas.microsoft.com/office/drawing/2014/main" id="{3B4F54D1-0036-48AA-BF35-B8E853CE85EE}"/>
              </a:ext>
            </a:extLst>
          </p:cNvPr>
          <p:cNvPicPr>
            <a:picLocks noChangeAspect="1"/>
          </p:cNvPicPr>
          <p:nvPr/>
        </p:nvPicPr>
        <p:blipFill>
          <a:blip r:embed="rId2"/>
          <a:stretch>
            <a:fillRect/>
          </a:stretch>
        </p:blipFill>
        <p:spPr>
          <a:xfrm>
            <a:off x="77187" y="2326602"/>
            <a:ext cx="4571014" cy="2700314"/>
          </a:xfrm>
          <a:prstGeom prst="rect">
            <a:avLst/>
          </a:prstGeom>
        </p:spPr>
      </p:pic>
      <p:pic>
        <p:nvPicPr>
          <p:cNvPr id="7" name="Picture 6">
            <a:extLst>
              <a:ext uri="{FF2B5EF4-FFF2-40B4-BE49-F238E27FC236}">
                <a16:creationId xmlns:a16="http://schemas.microsoft.com/office/drawing/2014/main" id="{1AE01A8E-D2F3-45B2-8661-F95D3F8B0A29}"/>
              </a:ext>
            </a:extLst>
          </p:cNvPr>
          <p:cNvPicPr>
            <a:picLocks noChangeAspect="1"/>
          </p:cNvPicPr>
          <p:nvPr/>
        </p:nvPicPr>
        <p:blipFill>
          <a:blip r:embed="rId3"/>
          <a:stretch>
            <a:fillRect/>
          </a:stretch>
        </p:blipFill>
        <p:spPr>
          <a:xfrm>
            <a:off x="5094516" y="2559270"/>
            <a:ext cx="4134427" cy="2181529"/>
          </a:xfrm>
          <a:prstGeom prst="rect">
            <a:avLst/>
          </a:prstGeom>
        </p:spPr>
      </p:pic>
      <p:sp>
        <p:nvSpPr>
          <p:cNvPr id="9" name="TextBox 8">
            <a:extLst>
              <a:ext uri="{FF2B5EF4-FFF2-40B4-BE49-F238E27FC236}">
                <a16:creationId xmlns:a16="http://schemas.microsoft.com/office/drawing/2014/main" id="{9304A664-06CE-488D-909C-752C8ED84FC4}"/>
              </a:ext>
            </a:extLst>
          </p:cNvPr>
          <p:cNvSpPr txBox="1"/>
          <p:nvPr/>
        </p:nvSpPr>
        <p:spPr>
          <a:xfrm>
            <a:off x="164273" y="5589627"/>
            <a:ext cx="8771743" cy="1200329"/>
          </a:xfrm>
          <a:prstGeom prst="rect">
            <a:avLst/>
          </a:prstGeom>
          <a:noFill/>
        </p:spPr>
        <p:txBody>
          <a:bodyPr wrap="square">
            <a:spAutoFit/>
          </a:bodyPr>
          <a:lstStyle/>
          <a:p>
            <a:pPr marL="0" indent="0">
              <a:buNone/>
            </a:pPr>
            <a:r>
              <a:rPr lang="en-US" dirty="0">
                <a:latin typeface="Consolas" panose="020B0609020204030204" pitchFamily="49" charset="0"/>
              </a:rPr>
              <a:t>• Architecture: LSTM Neural Network</a:t>
            </a:r>
          </a:p>
          <a:p>
            <a:pPr marL="457200" lvl="1" indent="0">
              <a:buNone/>
              <a:defRPr sz="1800"/>
            </a:pPr>
            <a:r>
              <a:rPr lang="en-US" dirty="0">
                <a:latin typeface="Consolas" panose="020B0609020204030204" pitchFamily="49" charset="0"/>
              </a:rPr>
              <a:t> • Input: Tokenized sequences (300 tokens)</a:t>
            </a:r>
          </a:p>
          <a:p>
            <a:pPr marL="457200" lvl="1" indent="0">
              <a:buNone/>
              <a:defRPr sz="1800"/>
            </a:pPr>
            <a:r>
              <a:rPr lang="en-US" dirty="0">
                <a:latin typeface="Consolas" panose="020B0609020204030204" pitchFamily="49" charset="0"/>
              </a:rPr>
              <a:t>• Layers: Embedding → LSTM(64) → LSTM(32) → Dense(32) → Output(5)</a:t>
            </a:r>
          </a:p>
        </p:txBody>
      </p:sp>
      <p:sp>
        <p:nvSpPr>
          <p:cNvPr id="11" name="TextBox 10">
            <a:extLst>
              <a:ext uri="{FF2B5EF4-FFF2-40B4-BE49-F238E27FC236}">
                <a16:creationId xmlns:a16="http://schemas.microsoft.com/office/drawing/2014/main" id="{F5DFA134-A999-4669-BE28-0F73EDEB13FD}"/>
              </a:ext>
            </a:extLst>
          </p:cNvPr>
          <p:cNvSpPr txBox="1"/>
          <p:nvPr/>
        </p:nvSpPr>
        <p:spPr>
          <a:xfrm>
            <a:off x="77187" y="5161313"/>
            <a:ext cx="4615542" cy="369332"/>
          </a:xfrm>
          <a:prstGeom prst="rect">
            <a:avLst/>
          </a:prstGeom>
          <a:noFill/>
        </p:spPr>
        <p:txBody>
          <a:bodyPr wrap="square">
            <a:spAutoFit/>
          </a:bodyPr>
          <a:lstStyle/>
          <a:p>
            <a:r>
              <a:rPr lang="en-US" dirty="0">
                <a:latin typeface="Consolas" panose="020B0609020204030204" pitchFamily="49" charset="0"/>
              </a:rPr>
              <a:t>2</a:t>
            </a:r>
            <a:r>
              <a:rPr lang="en-US" b="1" dirty="0">
                <a:latin typeface="Consolas" panose="020B0609020204030204" pitchFamily="49" charset="0"/>
              </a:rPr>
              <a:t>. Deep Learning Model:</a:t>
            </a:r>
            <a:endParaRPr lang="en-UG"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2800" b="1">
                <a:solidFill>
                  <a:srgbClr val="003366"/>
                </a:solidFill>
              </a:defRPr>
            </a:pPr>
            <a:r>
              <a:rPr sz="2800" b="1" dirty="0">
                <a:solidFill>
                  <a:srgbClr val="003366"/>
                </a:solidFill>
                <a:latin typeface="+mn-lt"/>
                <a:ea typeface="+mn-ea"/>
                <a:cs typeface="+mn-cs"/>
              </a:rPr>
              <a:t>ML Model: Logistic Regression Results</a:t>
            </a:r>
          </a:p>
        </p:txBody>
      </p:sp>
      <p:sp>
        <p:nvSpPr>
          <p:cNvPr id="3" name="Content Placeholder 2"/>
          <p:cNvSpPr>
            <a:spLocks noGrp="1"/>
          </p:cNvSpPr>
          <p:nvPr>
            <p:ph idx="1"/>
          </p:nvPr>
        </p:nvSpPr>
        <p:spPr/>
        <p:txBody>
          <a:bodyPr/>
          <a:lstStyle/>
          <a:p>
            <a:pPr marL="0" indent="0">
              <a:buNone/>
              <a:defRPr sz="2600" b="1"/>
            </a:pPr>
            <a:r>
              <a:rPr dirty="0">
                <a:latin typeface="Consolas" panose="020B0609020204030204" pitchFamily="49" charset="0"/>
              </a:rPr>
              <a:t>Performance Metrics</a:t>
            </a:r>
          </a:p>
          <a:p>
            <a:pPr lvl="1">
              <a:defRPr sz="1800"/>
            </a:pPr>
            <a:r>
              <a:rPr sz="1800" dirty="0">
                <a:latin typeface="Consolas" panose="020B0609020204030204" pitchFamily="49" charset="0"/>
              </a:rPr>
              <a:t> Test Accuracy: 97.33%</a:t>
            </a:r>
          </a:p>
          <a:p>
            <a:pPr lvl="1">
              <a:defRPr sz="1800"/>
            </a:pPr>
            <a:r>
              <a:rPr sz="1800" dirty="0">
                <a:latin typeface="Consolas" panose="020B0609020204030204" pitchFamily="49" charset="0"/>
              </a:rPr>
              <a:t> Weighted F1 Score: 0.9734</a:t>
            </a:r>
            <a:endParaRPr lang="en-US" sz="1800" dirty="0">
              <a:latin typeface="Consolas" panose="020B0609020204030204" pitchFamily="49" charset="0"/>
            </a:endParaRPr>
          </a:p>
          <a:p>
            <a:pPr marL="457200" lvl="1" indent="0">
              <a:buNone/>
              <a:defRPr sz="1800"/>
            </a:pPr>
            <a:br>
              <a:rPr sz="1800" dirty="0">
                <a:latin typeface="Consolas" panose="020B0609020204030204" pitchFamily="49" charset="0"/>
              </a:rPr>
            </a:br>
            <a:r>
              <a:rPr b="1" dirty="0">
                <a:latin typeface="Consolas" panose="020B0609020204030204" pitchFamily="49" charset="0"/>
              </a:rPr>
              <a:t>Key Observations:</a:t>
            </a:r>
          </a:p>
          <a:p>
            <a:pPr marL="457200" lvl="1" indent="0">
              <a:buNone/>
              <a:defRPr sz="1800"/>
            </a:pPr>
            <a:r>
              <a:rPr dirty="0">
                <a:latin typeface="Consolas" panose="020B0609020204030204" pitchFamily="49" charset="0"/>
              </a:rPr>
              <a:t> • Excellent performance across all 5 categories</a:t>
            </a:r>
          </a:p>
          <a:p>
            <a:pPr marL="457200" lvl="1" indent="0">
              <a:buNone/>
              <a:defRPr sz="1800"/>
            </a:pPr>
            <a:r>
              <a:rPr dirty="0">
                <a:latin typeface="Consolas" panose="020B0609020204030204" pitchFamily="49" charset="0"/>
              </a:rPr>
              <a:t>• Minimal misclassifications (only 4 errors out of 150 test samples)</a:t>
            </a:r>
          </a:p>
          <a:p>
            <a:pPr marL="457200" lvl="1" indent="0">
              <a:buNone/>
              <a:defRPr sz="1800"/>
            </a:pPr>
            <a:r>
              <a:rPr dirty="0">
                <a:latin typeface="Consolas" panose="020B0609020204030204" pitchFamily="49" charset="0"/>
              </a:rPr>
              <a:t>• Robust and interpretable model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1440"/>
            <a:ext cx="8229600" cy="548640"/>
          </a:xfrm>
          <a:prstGeom prst="rect">
            <a:avLst/>
          </a:prstGeom>
          <a:noFill/>
        </p:spPr>
        <p:txBody>
          <a:bodyPr wrap="none">
            <a:spAutoFit/>
          </a:bodyPr>
          <a:lstStyle/>
          <a:p>
            <a:pPr>
              <a:defRPr sz="2800" b="1">
                <a:solidFill>
                  <a:srgbClr val="003366"/>
                </a:solidFill>
              </a:defRPr>
            </a:pPr>
            <a:r>
              <a:rPr dirty="0"/>
              <a:t>ML Model: Confusion Matrix</a:t>
            </a:r>
          </a:p>
        </p:txBody>
      </p:sp>
      <p:sp>
        <p:nvSpPr>
          <p:cNvPr id="4" name="TextBox 3"/>
          <p:cNvSpPr txBox="1"/>
          <p:nvPr/>
        </p:nvSpPr>
        <p:spPr>
          <a:xfrm>
            <a:off x="179613" y="5727227"/>
            <a:ext cx="8855529" cy="923330"/>
          </a:xfrm>
          <a:prstGeom prst="rect">
            <a:avLst/>
          </a:prstGeom>
          <a:noFill/>
        </p:spPr>
        <p:txBody>
          <a:bodyPr wrap="square">
            <a:spAutoFit/>
          </a:bodyPr>
          <a:lstStyle/>
          <a:p>
            <a:r>
              <a:rPr dirty="0">
                <a:latin typeface="Consolas" panose="020B0609020204030204" pitchFamily="49" charset="0"/>
              </a:rPr>
              <a:t>The diagonal dominance indicates high precision and recall across all categories. Business and Entertainment classes show perfect classification.</a:t>
            </a:r>
          </a:p>
        </p:txBody>
      </p:sp>
      <p:pic>
        <p:nvPicPr>
          <p:cNvPr id="5" name="Picture 4" descr="image.png"/>
          <p:cNvPicPr>
            <a:picLocks noChangeAspect="1"/>
          </p:cNvPicPr>
          <p:nvPr/>
        </p:nvPicPr>
        <p:blipFill>
          <a:blip r:embed="rId2"/>
          <a:stretch>
            <a:fillRect/>
          </a:stretch>
        </p:blipFill>
        <p:spPr>
          <a:xfrm>
            <a:off x="1730828" y="1053666"/>
            <a:ext cx="5334001" cy="4516464"/>
          </a:xfrm>
          <a:prstGeom prst="rect">
            <a:avLst/>
          </a:prstGeom>
        </p:spPr>
      </p:pic>
      <p:sp>
        <p:nvSpPr>
          <p:cNvPr id="6" name="TextBox 5">
            <a:extLst>
              <a:ext uri="{FF2B5EF4-FFF2-40B4-BE49-F238E27FC236}">
                <a16:creationId xmlns:a16="http://schemas.microsoft.com/office/drawing/2014/main" id="{211AFB2A-24B9-47D4-B5DA-CB5C6F1A03B1}"/>
              </a:ext>
            </a:extLst>
          </p:cNvPr>
          <p:cNvSpPr txBox="1"/>
          <p:nvPr/>
        </p:nvSpPr>
        <p:spPr>
          <a:xfrm>
            <a:off x="179613" y="407335"/>
            <a:ext cx="8855529" cy="646331"/>
          </a:xfrm>
          <a:prstGeom prst="rect">
            <a:avLst/>
          </a:prstGeom>
          <a:noFill/>
        </p:spPr>
        <p:txBody>
          <a:bodyPr wrap="square">
            <a:spAutoFit/>
          </a:bodyPr>
          <a:lstStyle/>
          <a:p>
            <a:r>
              <a:rPr lang="en-US" dirty="0">
                <a:latin typeface="Consolas" panose="020B0609020204030204" pitchFamily="49" charset="0"/>
              </a:rPr>
              <a:t>ML Model Confusion Matrix - Shows near-perfect classification with only 4 misclassifications out of 150 test samples.</a:t>
            </a:r>
            <a:endParaRPr lang="en-UG" dirty="0">
              <a:latin typeface="Consolas" panose="020B06090202040302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7"/>
            <a:ext cx="8229600" cy="1143000"/>
          </a:xfrm>
        </p:spPr>
        <p:txBody>
          <a:bodyPr>
            <a:normAutofit/>
          </a:bodyPr>
          <a:lstStyle/>
          <a:p>
            <a:pPr>
              <a:defRPr sz="2800" b="1">
                <a:solidFill>
                  <a:srgbClr val="003366"/>
                </a:solidFill>
              </a:defRPr>
            </a:pPr>
            <a:r>
              <a:rPr sz="2800" b="1" dirty="0">
                <a:solidFill>
                  <a:srgbClr val="003366"/>
                </a:solidFill>
                <a:latin typeface="+mn-lt"/>
                <a:ea typeface="+mn-ea"/>
                <a:cs typeface="+mn-cs"/>
              </a:rPr>
              <a:t>DL Model: LSTM Results</a:t>
            </a:r>
          </a:p>
        </p:txBody>
      </p:sp>
      <p:sp>
        <p:nvSpPr>
          <p:cNvPr id="3" name="Content Placeholder 2"/>
          <p:cNvSpPr>
            <a:spLocks noGrp="1"/>
          </p:cNvSpPr>
          <p:nvPr>
            <p:ph idx="1"/>
          </p:nvPr>
        </p:nvSpPr>
        <p:spPr>
          <a:xfrm>
            <a:off x="163285" y="1034143"/>
            <a:ext cx="8349343" cy="5663520"/>
          </a:xfrm>
        </p:spPr>
        <p:txBody>
          <a:bodyPr>
            <a:normAutofit fontScale="92500" lnSpcReduction="20000"/>
          </a:bodyPr>
          <a:lstStyle/>
          <a:p>
            <a:pPr marL="0" indent="0">
              <a:buNone/>
              <a:defRPr sz="2600" b="1"/>
            </a:pPr>
            <a:r>
              <a:rPr dirty="0">
                <a:latin typeface="Consolas" panose="020B0609020204030204" pitchFamily="49" charset="0"/>
              </a:rPr>
              <a:t>Performance Metrics</a:t>
            </a:r>
          </a:p>
          <a:p>
            <a:pPr marL="0" indent="0">
              <a:buNone/>
              <a:defRPr sz="2400"/>
            </a:pPr>
            <a:r>
              <a:rPr dirty="0">
                <a:latin typeface="Consolas" panose="020B0609020204030204" pitchFamily="49" charset="0"/>
              </a:rPr>
              <a:t>• Test Accuracy: 34.00%</a:t>
            </a:r>
          </a:p>
          <a:p>
            <a:pPr marL="0" indent="0">
              <a:buNone/>
              <a:defRPr sz="2400"/>
            </a:pPr>
            <a:r>
              <a:rPr dirty="0">
                <a:latin typeface="Consolas" panose="020B0609020204030204" pitchFamily="49" charset="0"/>
              </a:rPr>
              <a:t>• Weighted F1 Score: 0.2617</a:t>
            </a:r>
          </a:p>
          <a:p>
            <a:pPr marL="0" indent="0">
              <a:buNone/>
            </a:pP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br>
              <a:rPr dirty="0">
                <a:latin typeface="Consolas" panose="020B0609020204030204" pitchFamily="49" charset="0"/>
              </a:rPr>
            </a:br>
            <a:r>
              <a:rPr dirty="0">
                <a:latin typeface="Consolas" panose="020B0609020204030204" pitchFamily="49" charset="0"/>
              </a:rPr>
              <a:t>Analysis:</a:t>
            </a:r>
          </a:p>
          <a:p>
            <a:pPr lvl="1">
              <a:buFont typeface="Arial" panose="020B0604020202020204" pitchFamily="34" charset="0"/>
              <a:buChar char="•"/>
              <a:defRPr sz="1800"/>
            </a:pPr>
            <a:r>
              <a:rPr dirty="0">
                <a:latin typeface="Consolas" panose="020B0609020204030204" pitchFamily="49" charset="0"/>
              </a:rPr>
              <a:t>  Lower performance compared to ML model</a:t>
            </a:r>
            <a:endParaRPr lang="en-US" dirty="0">
              <a:latin typeface="Consolas" panose="020B0609020204030204" pitchFamily="49" charset="0"/>
            </a:endParaRPr>
          </a:p>
          <a:p>
            <a:pPr lvl="1">
              <a:buFont typeface="Arial" panose="020B0604020202020204" pitchFamily="34" charset="0"/>
              <a:buChar char="•"/>
              <a:defRPr sz="1800"/>
            </a:pPr>
            <a:r>
              <a:rPr dirty="0">
                <a:latin typeface="Consolas" panose="020B0609020204030204" pitchFamily="49" charset="0"/>
              </a:rPr>
              <a:t> Struggled with business and entertainment categories</a:t>
            </a:r>
          </a:p>
          <a:p>
            <a:pPr lvl="1">
              <a:buFont typeface="Arial" panose="020B0604020202020204" pitchFamily="34" charset="0"/>
              <a:buChar char="•"/>
              <a:defRPr sz="1800"/>
            </a:pPr>
            <a:r>
              <a:rPr dirty="0">
                <a:latin typeface="Consolas" panose="020B0609020204030204" pitchFamily="49" charset="0"/>
              </a:rPr>
              <a:t> Possible reasons: Limited training data, suboptimal hyperparameters</a:t>
            </a:r>
            <a:endParaRPr lang="en-US" dirty="0">
              <a:latin typeface="Consolas" panose="020B0609020204030204" pitchFamily="49" charset="0"/>
            </a:endParaRPr>
          </a:p>
          <a:p>
            <a:pPr lvl="1">
              <a:buFont typeface="Arial" panose="020B0604020202020204" pitchFamily="34" charset="0"/>
              <a:buChar char="•"/>
              <a:defRPr sz="1800"/>
            </a:pPr>
            <a:r>
              <a:rPr dirty="0">
                <a:latin typeface="Consolas" panose="020B0609020204030204" pitchFamily="49" charset="0"/>
              </a:rPr>
              <a:t> May benefit from more epochs or architectural improvements</a:t>
            </a:r>
          </a:p>
        </p:txBody>
      </p:sp>
      <p:pic>
        <p:nvPicPr>
          <p:cNvPr id="5" name="Picture 4">
            <a:extLst>
              <a:ext uri="{FF2B5EF4-FFF2-40B4-BE49-F238E27FC236}">
                <a16:creationId xmlns:a16="http://schemas.microsoft.com/office/drawing/2014/main" id="{852BA11B-B75A-4BB4-9A09-933DECB0547A}"/>
              </a:ext>
            </a:extLst>
          </p:cNvPr>
          <p:cNvPicPr>
            <a:picLocks noChangeAspect="1"/>
          </p:cNvPicPr>
          <p:nvPr/>
        </p:nvPicPr>
        <p:blipFill>
          <a:blip r:embed="rId2"/>
          <a:stretch>
            <a:fillRect/>
          </a:stretch>
        </p:blipFill>
        <p:spPr>
          <a:xfrm>
            <a:off x="163285" y="2100684"/>
            <a:ext cx="4974771" cy="265663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88774" y="182880"/>
            <a:ext cx="4366452" cy="523220"/>
          </a:xfrm>
          <a:prstGeom prst="rect">
            <a:avLst/>
          </a:prstGeom>
          <a:noFill/>
        </p:spPr>
        <p:txBody>
          <a:bodyPr wrap="none">
            <a:spAutoFit/>
          </a:bodyPr>
          <a:lstStyle/>
          <a:p>
            <a:pPr algn="ctr">
              <a:defRPr sz="2800" b="1">
                <a:solidFill>
                  <a:srgbClr val="003366"/>
                </a:solidFill>
              </a:defRPr>
            </a:pPr>
            <a:r>
              <a:rPr dirty="0"/>
              <a:t>DL Model: Confusion Matrix</a:t>
            </a:r>
          </a:p>
        </p:txBody>
      </p:sp>
      <p:sp>
        <p:nvSpPr>
          <p:cNvPr id="4" name="TextBox 3"/>
          <p:cNvSpPr txBox="1"/>
          <p:nvPr/>
        </p:nvSpPr>
        <p:spPr>
          <a:xfrm>
            <a:off x="457200" y="3840480"/>
            <a:ext cx="8229600" cy="1371600"/>
          </a:xfrm>
          <a:prstGeom prst="rect">
            <a:avLst/>
          </a:prstGeom>
          <a:noFill/>
        </p:spPr>
        <p:txBody>
          <a:bodyPr wrap="none">
            <a:spAutoFit/>
          </a:bodyPr>
          <a:lstStyle/>
          <a:p>
            <a:pPr algn="ctr">
              <a:defRPr sz="1400" i="1">
                <a:solidFill>
                  <a:srgbClr val="404040"/>
                </a:solidFill>
              </a:defRPr>
            </a:pPr>
            <a:r>
              <a:t>Figure 3: DL Model Confusion Matrix - Shows the LSTM model struggled with classification.</a:t>
            </a:r>
          </a:p>
          <a:p>
            <a:r>
              <a:t>Business and Entertainment classes were never correctly predicted (0 correct). The model tended to classify many articles as 'sport', indicating potential overfitting or class imbalance issues in training.</a:t>
            </a:r>
          </a:p>
        </p:txBody>
      </p:sp>
      <p:pic>
        <p:nvPicPr>
          <p:cNvPr id="5" name="Picture 4" descr="image.png"/>
          <p:cNvPicPr>
            <a:picLocks noChangeAspect="1"/>
          </p:cNvPicPr>
          <p:nvPr/>
        </p:nvPicPr>
        <p:blipFill>
          <a:blip r:embed="rId2"/>
          <a:stretch>
            <a:fillRect/>
          </a:stretch>
        </p:blipFill>
        <p:spPr>
          <a:xfrm>
            <a:off x="1371600" y="1097280"/>
            <a:ext cx="6400800" cy="54197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0" y="254941"/>
            <a:ext cx="4069512" cy="523220"/>
          </a:xfrm>
          <a:prstGeom prst="rect">
            <a:avLst/>
          </a:prstGeom>
          <a:noFill/>
        </p:spPr>
        <p:txBody>
          <a:bodyPr wrap="none">
            <a:spAutoFit/>
          </a:bodyPr>
          <a:lstStyle/>
          <a:p>
            <a:pPr algn="ctr">
              <a:defRPr sz="2800" b="1">
                <a:solidFill>
                  <a:srgbClr val="003366"/>
                </a:solidFill>
              </a:defRPr>
            </a:pPr>
            <a:r>
              <a:rPr sz="2800" b="1" dirty="0">
                <a:solidFill>
                  <a:srgbClr val="003366"/>
                </a:solidFill>
              </a:rPr>
              <a:t>DL Model: Training Curves</a:t>
            </a:r>
          </a:p>
        </p:txBody>
      </p:sp>
      <p:sp>
        <p:nvSpPr>
          <p:cNvPr id="4" name="TextBox 3"/>
          <p:cNvSpPr txBox="1"/>
          <p:nvPr/>
        </p:nvSpPr>
        <p:spPr>
          <a:xfrm>
            <a:off x="5166360" y="3991215"/>
            <a:ext cx="3566159" cy="1384995"/>
          </a:xfrm>
          <a:prstGeom prst="rect">
            <a:avLst/>
          </a:prstGeom>
          <a:noFill/>
        </p:spPr>
        <p:txBody>
          <a:bodyPr wrap="square">
            <a:spAutoFit/>
          </a:bodyPr>
          <a:lstStyle/>
          <a:p>
            <a:r>
              <a:rPr sz="1200" dirty="0">
                <a:latin typeface="Consolas" panose="020B0609020204030204" pitchFamily="49" charset="0"/>
              </a:rPr>
              <a:t>Loss curves showing training loss decreased but validation loss remained high, indicating overfitting. The gap between training and validation suggests the model memorized training patterns rather than learning generalizable features.</a:t>
            </a:r>
          </a:p>
        </p:txBody>
      </p:sp>
      <p:pic>
        <p:nvPicPr>
          <p:cNvPr id="5" name="Picture 4" descr="image.png"/>
          <p:cNvPicPr>
            <a:picLocks noChangeAspect="1"/>
          </p:cNvPicPr>
          <p:nvPr/>
        </p:nvPicPr>
        <p:blipFill>
          <a:blip r:embed="rId2"/>
          <a:stretch>
            <a:fillRect/>
          </a:stretch>
        </p:blipFill>
        <p:spPr>
          <a:xfrm>
            <a:off x="116616" y="1207217"/>
            <a:ext cx="8408280" cy="2765139"/>
          </a:xfrm>
          <a:prstGeom prst="rect">
            <a:avLst/>
          </a:prstGeom>
        </p:spPr>
      </p:pic>
      <p:sp>
        <p:nvSpPr>
          <p:cNvPr id="6" name="TextBox 5">
            <a:extLst>
              <a:ext uri="{FF2B5EF4-FFF2-40B4-BE49-F238E27FC236}">
                <a16:creationId xmlns:a16="http://schemas.microsoft.com/office/drawing/2014/main" id="{A414E3CF-559E-4BEF-92DC-2D4E4FC2CCF7}"/>
              </a:ext>
            </a:extLst>
          </p:cNvPr>
          <p:cNvSpPr txBox="1"/>
          <p:nvPr/>
        </p:nvSpPr>
        <p:spPr>
          <a:xfrm>
            <a:off x="574358" y="4268213"/>
            <a:ext cx="2648902" cy="830997"/>
          </a:xfrm>
          <a:prstGeom prst="rect">
            <a:avLst/>
          </a:prstGeom>
          <a:noFill/>
        </p:spPr>
        <p:txBody>
          <a:bodyPr wrap="square">
            <a:spAutoFit/>
          </a:bodyPr>
          <a:lstStyle/>
          <a:p>
            <a:pPr algn="ctr">
              <a:defRPr sz="1400" i="1">
                <a:solidFill>
                  <a:srgbClr val="404040"/>
                </a:solidFill>
              </a:defRPr>
            </a:pPr>
            <a:r>
              <a:rPr lang="en-US" sz="1200" dirty="0">
                <a:latin typeface="Consolas" panose="020B0609020204030204" pitchFamily="49" charset="0"/>
              </a:rPr>
              <a:t>Accuracy progression showing training accuracy reached ~54% while validation plateaued around 33%.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2800" b="1">
                <a:solidFill>
                  <a:srgbClr val="003366"/>
                </a:solidFill>
              </a:defRPr>
            </a:pPr>
            <a:r>
              <a:rPr sz="2800" b="1" dirty="0">
                <a:solidFill>
                  <a:srgbClr val="003366"/>
                </a:solidFill>
                <a:latin typeface="+mn-lt"/>
                <a:ea typeface="+mn-ea"/>
                <a:cs typeface="+mn-cs"/>
              </a:rPr>
              <a:t>Part C: Topic Clustering</a:t>
            </a:r>
          </a:p>
        </p:txBody>
      </p:sp>
      <p:sp>
        <p:nvSpPr>
          <p:cNvPr id="3" name="Content Placeholder 2"/>
          <p:cNvSpPr>
            <a:spLocks noGrp="1"/>
          </p:cNvSpPr>
          <p:nvPr>
            <p:ph idx="1"/>
          </p:nvPr>
        </p:nvSpPr>
        <p:spPr/>
        <p:txBody>
          <a:bodyPr/>
          <a:lstStyle/>
          <a:p>
            <a:pPr>
              <a:defRPr sz="2600" b="1"/>
            </a:pPr>
            <a:r>
              <a:rPr dirty="0"/>
              <a:t>Unsupervised Topic Discovery</a:t>
            </a:r>
          </a:p>
          <a:p>
            <a:pPr marL="0" indent="0">
              <a:buNone/>
              <a:defRPr sz="2200" b="1"/>
            </a:pPr>
            <a:r>
              <a:rPr dirty="0"/>
              <a:t>Methodology:</a:t>
            </a:r>
          </a:p>
          <a:p>
            <a:pPr lvl="1">
              <a:buFont typeface="Arial" panose="020B0604020202020204" pitchFamily="34" charset="0"/>
              <a:buChar char="•"/>
              <a:defRPr sz="1800"/>
            </a:pPr>
            <a:r>
              <a:rPr sz="1800" dirty="0">
                <a:latin typeface="Consolas" panose="020B0609020204030204" pitchFamily="49" charset="0"/>
              </a:rPr>
              <a:t>Embedding: TF-IDF vectors (3000 features)</a:t>
            </a:r>
          </a:p>
          <a:p>
            <a:pPr lvl="1">
              <a:buFont typeface="Arial" panose="020B0604020202020204" pitchFamily="34" charset="0"/>
              <a:buChar char="•"/>
              <a:defRPr sz="1800"/>
            </a:pPr>
            <a:r>
              <a:rPr sz="1800" dirty="0">
                <a:latin typeface="Consolas" panose="020B0609020204030204" pitchFamily="49" charset="0"/>
              </a:rPr>
              <a:t>Algorithm: k-Means clustering (k=5)</a:t>
            </a:r>
          </a:p>
          <a:p>
            <a:pPr lvl="1">
              <a:buFont typeface="Arial" panose="020B0604020202020204" pitchFamily="34" charset="0"/>
              <a:buChar char="•"/>
              <a:defRPr sz="1800"/>
            </a:pPr>
            <a:r>
              <a:rPr sz="1800" dirty="0">
                <a:latin typeface="Consolas" panose="020B0609020204030204" pitchFamily="49" charset="0"/>
              </a:rPr>
              <a:t>Visualization: PCA and t-SNE for 2D projection</a:t>
            </a:r>
          </a:p>
          <a:p>
            <a:pPr marL="0" indent="0">
              <a:buNone/>
            </a:pPr>
            <a:br>
              <a:rPr dirty="0"/>
            </a:br>
            <a:r>
              <a:rPr dirty="0"/>
              <a:t>Results:</a:t>
            </a:r>
          </a:p>
          <a:p>
            <a:pPr lvl="1">
              <a:buFont typeface="Arial" panose="020B0604020202020204" pitchFamily="34" charset="0"/>
              <a:buChar char="•"/>
              <a:defRPr sz="1800"/>
            </a:pPr>
            <a:r>
              <a:rPr sz="1800" dirty="0">
                <a:latin typeface="Consolas" panose="020B0609020204030204" pitchFamily="49" charset="0"/>
              </a:rPr>
              <a:t> Successfully identified 5 distinct clusters</a:t>
            </a:r>
          </a:p>
          <a:p>
            <a:pPr lvl="1">
              <a:buFont typeface="Arial" panose="020B0604020202020204" pitchFamily="34" charset="0"/>
              <a:buChar char="•"/>
              <a:defRPr sz="1800"/>
            </a:pPr>
            <a:r>
              <a:rPr sz="1800" dirty="0">
                <a:latin typeface="Consolas" panose="020B0609020204030204" pitchFamily="49" charset="0"/>
              </a:rPr>
              <a:t> Clusters align reasonably with original categories</a:t>
            </a:r>
          </a:p>
          <a:p>
            <a:pPr lvl="1">
              <a:buFont typeface="Arial" panose="020B0604020202020204" pitchFamily="34" charset="0"/>
              <a:buChar char="•"/>
              <a:defRPr sz="1800"/>
            </a:pPr>
            <a:r>
              <a:rPr sz="1800" dirty="0">
                <a:latin typeface="Consolas" panose="020B0609020204030204" pitchFamily="49" charset="0"/>
              </a:rPr>
              <a:t> Top keywords extracted per cluster for interpretation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71700" y="0"/>
            <a:ext cx="5600700" cy="523220"/>
          </a:xfrm>
          <a:prstGeom prst="rect">
            <a:avLst/>
          </a:prstGeom>
          <a:noFill/>
        </p:spPr>
        <p:txBody>
          <a:bodyPr wrap="square">
            <a:spAutoFit/>
          </a:bodyPr>
          <a:lstStyle/>
          <a:p>
            <a:pPr>
              <a:defRPr sz="2800" b="1">
                <a:solidFill>
                  <a:srgbClr val="003366"/>
                </a:solidFill>
              </a:defRPr>
            </a:pPr>
            <a:r>
              <a:t>Clustering: PCA Visualization</a:t>
            </a:r>
          </a:p>
        </p:txBody>
      </p:sp>
      <p:sp>
        <p:nvSpPr>
          <p:cNvPr id="4" name="TextBox 3"/>
          <p:cNvSpPr txBox="1"/>
          <p:nvPr/>
        </p:nvSpPr>
        <p:spPr>
          <a:xfrm>
            <a:off x="194310" y="4492648"/>
            <a:ext cx="8755380" cy="1692771"/>
          </a:xfrm>
          <a:prstGeom prst="rect">
            <a:avLst/>
          </a:prstGeom>
          <a:noFill/>
        </p:spPr>
        <p:txBody>
          <a:bodyPr wrap="square">
            <a:spAutoFit/>
          </a:bodyPr>
          <a:lstStyle/>
          <a:p>
            <a:pPr algn="ctr">
              <a:defRPr sz="1400" i="1">
                <a:solidFill>
                  <a:srgbClr val="404040"/>
                </a:solidFill>
              </a:defRPr>
            </a:pPr>
            <a:endParaRPr dirty="0">
              <a:latin typeface="Consolas" panose="020B0609020204030204" pitchFamily="49" charset="0"/>
            </a:endParaRPr>
          </a:p>
          <a:p>
            <a:r>
              <a:rPr dirty="0">
                <a:latin typeface="Consolas" panose="020B0609020204030204" pitchFamily="49" charset="0"/>
              </a:rPr>
              <a:t>PCA preserves global structure but may lose local relationships. The visualization shows some separation between clusters, though not perfect alignment with true categories, indicating that unsupervised discovery reveals different topic structures than manual categorization.</a:t>
            </a:r>
          </a:p>
        </p:txBody>
      </p:sp>
      <p:pic>
        <p:nvPicPr>
          <p:cNvPr id="5" name="Picture 4" descr="image.png"/>
          <p:cNvPicPr>
            <a:picLocks noChangeAspect="1"/>
          </p:cNvPicPr>
          <p:nvPr/>
        </p:nvPicPr>
        <p:blipFill>
          <a:blip r:embed="rId2"/>
          <a:stretch>
            <a:fillRect/>
          </a:stretch>
        </p:blipFill>
        <p:spPr>
          <a:xfrm>
            <a:off x="194310" y="1095072"/>
            <a:ext cx="8755380" cy="33155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548640"/>
          </a:xfrm>
          <a:prstGeom prst="rect">
            <a:avLst/>
          </a:prstGeom>
          <a:noFill/>
        </p:spPr>
        <p:txBody>
          <a:bodyPr wrap="none">
            <a:spAutoFit/>
          </a:bodyPr>
          <a:lstStyle/>
          <a:p>
            <a:pPr>
              <a:defRPr sz="2800" b="1">
                <a:solidFill>
                  <a:srgbClr val="003366"/>
                </a:solidFill>
              </a:defRPr>
            </a:pPr>
            <a:r>
              <a:rPr dirty="0"/>
              <a:t>Clustering: t-SNE Visualization</a:t>
            </a:r>
          </a:p>
        </p:txBody>
      </p:sp>
      <p:sp>
        <p:nvSpPr>
          <p:cNvPr id="4" name="TextBox 3"/>
          <p:cNvSpPr txBox="1"/>
          <p:nvPr/>
        </p:nvSpPr>
        <p:spPr>
          <a:xfrm>
            <a:off x="315141" y="5108848"/>
            <a:ext cx="8241030" cy="1200329"/>
          </a:xfrm>
          <a:prstGeom prst="rect">
            <a:avLst/>
          </a:prstGeom>
          <a:noFill/>
        </p:spPr>
        <p:txBody>
          <a:bodyPr wrap="square">
            <a:spAutoFit/>
          </a:bodyPr>
          <a:lstStyle/>
          <a:p>
            <a:r>
              <a:rPr dirty="0">
                <a:latin typeface="Consolas" panose="020B0609020204030204" pitchFamily="49" charset="0"/>
              </a:rPr>
              <a:t>The visualization reveals clearer cluster boundaries and non-linear relationships. t-SNE is particularly effective at showing how articles group based on semantic similarity, with distinct clusters visible in the reduced 2D space.</a:t>
            </a:r>
          </a:p>
        </p:txBody>
      </p:sp>
      <p:pic>
        <p:nvPicPr>
          <p:cNvPr id="5" name="Picture 4" descr="image.png"/>
          <p:cNvPicPr>
            <a:picLocks noChangeAspect="1"/>
          </p:cNvPicPr>
          <p:nvPr/>
        </p:nvPicPr>
        <p:blipFill>
          <a:blip r:embed="rId2"/>
          <a:stretch>
            <a:fillRect/>
          </a:stretch>
        </p:blipFill>
        <p:spPr>
          <a:xfrm>
            <a:off x="179070" y="1361948"/>
            <a:ext cx="8229600" cy="31164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9286" y="154896"/>
            <a:ext cx="5083628" cy="715962"/>
          </a:xfrm>
        </p:spPr>
        <p:txBody>
          <a:bodyPr>
            <a:normAutofit/>
          </a:bodyPr>
          <a:lstStyle/>
          <a:p>
            <a:pPr algn="l">
              <a:defRPr sz="2800" b="1">
                <a:solidFill>
                  <a:srgbClr val="003366"/>
                </a:solidFill>
              </a:defRPr>
            </a:pPr>
            <a:r>
              <a:rPr sz="2800" b="1" dirty="0">
                <a:solidFill>
                  <a:srgbClr val="003366"/>
                </a:solidFill>
                <a:latin typeface="+mn-lt"/>
                <a:ea typeface="+mn-ea"/>
                <a:cs typeface="+mn-cs"/>
              </a:rPr>
              <a:t>Part D: RL Decision Agent</a:t>
            </a:r>
          </a:p>
        </p:txBody>
      </p:sp>
      <p:sp>
        <p:nvSpPr>
          <p:cNvPr id="3" name="Content Placeholder 2"/>
          <p:cNvSpPr>
            <a:spLocks noGrp="1"/>
          </p:cNvSpPr>
          <p:nvPr>
            <p:ph idx="1"/>
          </p:nvPr>
        </p:nvSpPr>
        <p:spPr>
          <a:xfrm>
            <a:off x="457200" y="1284515"/>
            <a:ext cx="8229600" cy="4525963"/>
          </a:xfrm>
        </p:spPr>
        <p:txBody>
          <a:bodyPr>
            <a:normAutofit fontScale="92500" lnSpcReduction="10000"/>
          </a:bodyPr>
          <a:lstStyle/>
          <a:p>
            <a:pPr marL="0" indent="0">
              <a:buNone/>
              <a:defRPr sz="2600" b="1"/>
            </a:pPr>
            <a:r>
              <a:rPr dirty="0">
                <a:latin typeface="Consolas" panose="020B0609020204030204" pitchFamily="49" charset="0"/>
              </a:rPr>
              <a:t>Q-Learning for Intelligent Model Selection</a:t>
            </a:r>
          </a:p>
          <a:p>
            <a:pPr marL="0" indent="0">
              <a:buNone/>
              <a:defRPr sz="2200" b="1"/>
            </a:pPr>
            <a:r>
              <a:rPr dirty="0">
                <a:latin typeface="Consolas" panose="020B0609020204030204" pitchFamily="49" charset="0"/>
              </a:rPr>
              <a:t>State Space (5 features):</a:t>
            </a:r>
          </a:p>
          <a:p>
            <a:pPr marL="457200" lvl="1" indent="0">
              <a:buNone/>
              <a:defRPr sz="1800"/>
            </a:pPr>
            <a:r>
              <a:rPr dirty="0">
                <a:latin typeface="Consolas" panose="020B0609020204030204" pitchFamily="49" charset="0"/>
              </a:rPr>
              <a:t> • ML confidence (5 bins: 0-4)</a:t>
            </a:r>
          </a:p>
          <a:p>
            <a:pPr marL="457200" lvl="1" indent="0">
              <a:buNone/>
              <a:defRPr sz="1800"/>
            </a:pPr>
            <a:r>
              <a:rPr dirty="0">
                <a:latin typeface="Consolas" panose="020B0609020204030204" pitchFamily="49" charset="0"/>
              </a:rPr>
              <a:t> • DL confidence (5 bins: 0-4)</a:t>
            </a:r>
          </a:p>
          <a:p>
            <a:pPr marL="457200" lvl="1" indent="0">
              <a:buNone/>
              <a:defRPr sz="1800"/>
            </a:pPr>
            <a:r>
              <a:rPr dirty="0">
                <a:latin typeface="Consolas" panose="020B0609020204030204" pitchFamily="49" charset="0"/>
              </a:rPr>
              <a:t> • Cluster ID (5 clusters)</a:t>
            </a:r>
          </a:p>
          <a:p>
            <a:pPr marL="457200" lvl="1" indent="0">
              <a:buNone/>
              <a:defRPr sz="1800"/>
            </a:pPr>
            <a:r>
              <a:rPr dirty="0">
                <a:latin typeface="Consolas" panose="020B0609020204030204" pitchFamily="49" charset="0"/>
              </a:rPr>
              <a:t> • Article length (5 bins)</a:t>
            </a:r>
            <a:endParaRPr lang="en-US" dirty="0">
              <a:latin typeface="Consolas" panose="020B0609020204030204" pitchFamily="49" charset="0"/>
            </a:endParaRPr>
          </a:p>
          <a:p>
            <a:pPr marL="457200" lvl="1" indent="0">
              <a:buNone/>
              <a:defRPr sz="1800"/>
            </a:pPr>
            <a:r>
              <a:rPr dirty="0">
                <a:latin typeface="Consolas" panose="020B0609020204030204" pitchFamily="49" charset="0"/>
              </a:rPr>
              <a:t> • Disagreement flag (binary)</a:t>
            </a:r>
          </a:p>
          <a:p>
            <a:pPr marL="0" indent="0">
              <a:buNone/>
            </a:pPr>
            <a:r>
              <a:rPr lang="en-US" dirty="0">
                <a:latin typeface="Consolas" panose="020B0609020204030204" pitchFamily="49" charset="0"/>
              </a:rPr>
              <a:t>A</a:t>
            </a:r>
            <a:r>
              <a:rPr dirty="0">
                <a:latin typeface="Consolas" panose="020B0609020204030204" pitchFamily="49" charset="0"/>
              </a:rPr>
              <a:t>ctions:</a:t>
            </a:r>
          </a:p>
          <a:p>
            <a:pPr marL="0" indent="0">
              <a:buNone/>
              <a:defRPr sz="1800"/>
            </a:pPr>
            <a:r>
              <a:rPr dirty="0">
                <a:latin typeface="Consolas" panose="020B0609020204030204" pitchFamily="49" charset="0"/>
              </a:rPr>
              <a:t> 0 = Use ML | 1 = Use DL | 2 = Escalate to human</a:t>
            </a:r>
          </a:p>
          <a:p>
            <a:pPr marL="0" indent="0">
              <a:buNone/>
            </a:pPr>
            <a:br>
              <a:rPr dirty="0">
                <a:latin typeface="Consolas" panose="020B0609020204030204" pitchFamily="49" charset="0"/>
              </a:rPr>
            </a:br>
            <a:r>
              <a:rPr dirty="0">
                <a:latin typeface="Consolas" panose="020B0609020204030204" pitchFamily="49" charset="0"/>
              </a:rPr>
              <a:t>Total States: 1,250 possible state combinations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4D545-1216-4E34-924C-4C803BA25B33}"/>
              </a:ext>
            </a:extLst>
          </p:cNvPr>
          <p:cNvSpPr>
            <a:spLocks noGrp="1"/>
          </p:cNvSpPr>
          <p:nvPr>
            <p:ph type="title"/>
          </p:nvPr>
        </p:nvSpPr>
        <p:spPr>
          <a:xfrm>
            <a:off x="457200" y="274638"/>
            <a:ext cx="8229600" cy="639761"/>
          </a:xfrm>
        </p:spPr>
        <p:txBody>
          <a:bodyPr/>
          <a:lstStyle/>
          <a:p>
            <a:pPr>
              <a:defRPr sz="2800" b="1">
                <a:solidFill>
                  <a:srgbClr val="003366"/>
                </a:solidFill>
              </a:defRPr>
            </a:pPr>
            <a:r>
              <a:rPr lang="en-US" sz="2800" b="1" dirty="0">
                <a:solidFill>
                  <a:srgbClr val="003366"/>
                </a:solidFill>
                <a:latin typeface="+mn-lt"/>
                <a:ea typeface="+mn-ea"/>
                <a:cs typeface="+mn-cs"/>
              </a:rPr>
              <a:t>Reward Function Design</a:t>
            </a:r>
            <a:endParaRPr lang="en-UG" sz="2800" b="1" dirty="0">
              <a:solidFill>
                <a:srgbClr val="003366"/>
              </a:solidFill>
              <a:latin typeface="+mn-lt"/>
              <a:ea typeface="+mn-ea"/>
              <a:cs typeface="+mn-cs"/>
            </a:endParaRPr>
          </a:p>
        </p:txBody>
      </p:sp>
      <p:sp>
        <p:nvSpPr>
          <p:cNvPr id="3" name="Content Placeholder 2">
            <a:extLst>
              <a:ext uri="{FF2B5EF4-FFF2-40B4-BE49-F238E27FC236}">
                <a16:creationId xmlns:a16="http://schemas.microsoft.com/office/drawing/2014/main" id="{584CC325-0CE8-4341-AE8B-0B1DCA309CB2}"/>
              </a:ext>
            </a:extLst>
          </p:cNvPr>
          <p:cNvSpPr>
            <a:spLocks noGrp="1"/>
          </p:cNvSpPr>
          <p:nvPr>
            <p:ph idx="1"/>
          </p:nvPr>
        </p:nvSpPr>
        <p:spPr>
          <a:xfrm>
            <a:off x="359229" y="914399"/>
            <a:ext cx="8229600" cy="4865915"/>
          </a:xfrm>
        </p:spPr>
        <p:txBody>
          <a:bodyPr>
            <a:normAutofit fontScale="85000" lnSpcReduction="10000"/>
          </a:bodyPr>
          <a:lstStyle/>
          <a:p>
            <a:pPr marL="0" indent="0">
              <a:buNone/>
            </a:pPr>
            <a:r>
              <a:rPr lang="en-US" dirty="0">
                <a:latin typeface="Consolas" panose="020B0609020204030204" pitchFamily="49" charset="0"/>
              </a:rPr>
              <a:t>Reward Structure</a:t>
            </a:r>
          </a:p>
          <a:p>
            <a:r>
              <a:rPr lang="en-US" b="1" dirty="0">
                <a:latin typeface="Consolas" panose="020B0609020204030204" pitchFamily="49" charset="0"/>
              </a:rPr>
              <a:t>Base Rewards</a:t>
            </a:r>
            <a:r>
              <a:rPr lang="en-US" dirty="0">
                <a:latin typeface="Consolas" panose="020B0609020204030204" pitchFamily="49" charset="0"/>
              </a:rPr>
              <a:t>:</a:t>
            </a:r>
          </a:p>
          <a:p>
            <a:pPr>
              <a:buFont typeface="Wingdings" panose="05000000000000000000" pitchFamily="2" charset="2"/>
              <a:buChar char="ü"/>
            </a:pPr>
            <a:r>
              <a:rPr lang="en-US" dirty="0">
                <a:latin typeface="Consolas" panose="020B0609020204030204" pitchFamily="49" charset="0"/>
              </a:rPr>
              <a:t>+10: Correct Prediction</a:t>
            </a:r>
          </a:p>
          <a:p>
            <a:pPr>
              <a:buFont typeface="Wingdings" panose="05000000000000000000" pitchFamily="2" charset="2"/>
              <a:buChar char="ü"/>
            </a:pPr>
            <a:r>
              <a:rPr lang="en-US" dirty="0">
                <a:latin typeface="Consolas" panose="020B0609020204030204" pitchFamily="49" charset="0"/>
              </a:rPr>
              <a:t>-5:Wrong prediction</a:t>
            </a:r>
          </a:p>
          <a:p>
            <a:pPr>
              <a:buFont typeface="Wingdings" panose="05000000000000000000" pitchFamily="2" charset="2"/>
              <a:buChar char="ü"/>
            </a:pPr>
            <a:r>
              <a:rPr lang="en-US" dirty="0">
                <a:latin typeface="Consolas" panose="020B0609020204030204" pitchFamily="49" charset="0"/>
              </a:rPr>
              <a:t>-1: Escalate to human</a:t>
            </a:r>
          </a:p>
          <a:p>
            <a:r>
              <a:rPr lang="en-US" b="1" dirty="0">
                <a:latin typeface="Consolas" panose="020B0609020204030204" pitchFamily="49" charset="0"/>
              </a:rPr>
              <a:t>Bonus/Penalty System</a:t>
            </a:r>
          </a:p>
          <a:p>
            <a:pPr>
              <a:buFont typeface="Wingdings" panose="05000000000000000000" pitchFamily="2" charset="2"/>
              <a:buChar char="ü"/>
            </a:pPr>
            <a:r>
              <a:rPr lang="en-US" dirty="0">
                <a:latin typeface="Consolas" panose="020B0609020204030204" pitchFamily="49" charset="0"/>
              </a:rPr>
              <a:t>+2: High confidence (&gt;0.2) correct</a:t>
            </a:r>
          </a:p>
          <a:p>
            <a:pPr>
              <a:buFont typeface="Wingdings" panose="05000000000000000000" pitchFamily="2" charset="2"/>
              <a:buChar char="ü"/>
            </a:pPr>
            <a:r>
              <a:rPr lang="en-US" dirty="0">
                <a:latin typeface="Consolas" panose="020B0609020204030204" pitchFamily="49" charset="0"/>
              </a:rPr>
              <a:t>+3: Correctly resolve ML/DL disagreement</a:t>
            </a:r>
          </a:p>
          <a:p>
            <a:r>
              <a:rPr lang="en-US" b="1" dirty="0">
                <a:latin typeface="Consolas" panose="020B0609020204030204" pitchFamily="49" charset="0"/>
              </a:rPr>
              <a:t>Justification</a:t>
            </a:r>
            <a:r>
              <a:rPr lang="en-US" dirty="0">
                <a:latin typeface="Consolas" panose="020B0609020204030204" pitchFamily="49" charset="0"/>
              </a:rPr>
              <a:t>: Encourage accuracy while allowing intelligent escalation</a:t>
            </a:r>
            <a:endParaRPr lang="en-UG" dirty="0">
              <a:latin typeface="Consolas" panose="020B0609020204030204" pitchFamily="49" charset="0"/>
            </a:endParaRPr>
          </a:p>
        </p:txBody>
      </p:sp>
    </p:spTree>
    <p:extLst>
      <p:ext uri="{BB962C8B-B14F-4D97-AF65-F5344CB8AC3E}">
        <p14:creationId xmlns:p14="http://schemas.microsoft.com/office/powerpoint/2010/main" val="566602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905"/>
            <a:ext cx="8229600" cy="1143000"/>
          </a:xfrm>
        </p:spPr>
        <p:txBody>
          <a:bodyPr>
            <a:normAutofit/>
          </a:bodyPr>
          <a:lstStyle/>
          <a:p>
            <a:pPr>
              <a:defRPr sz="2800" b="1">
                <a:solidFill>
                  <a:srgbClr val="003366"/>
                </a:solidFill>
              </a:defRPr>
            </a:pPr>
            <a:r>
              <a:rPr sz="2800" b="1" dirty="0">
                <a:solidFill>
                  <a:srgbClr val="003366"/>
                </a:solidFill>
                <a:latin typeface="+mn-lt"/>
                <a:ea typeface="+mn-ea"/>
                <a:cs typeface="+mn-cs"/>
              </a:rPr>
              <a:t>RL Training Configuration</a:t>
            </a:r>
          </a:p>
        </p:txBody>
      </p:sp>
      <p:sp>
        <p:nvSpPr>
          <p:cNvPr id="3" name="Content Placeholder 2"/>
          <p:cNvSpPr>
            <a:spLocks noGrp="1"/>
          </p:cNvSpPr>
          <p:nvPr>
            <p:ph idx="1"/>
          </p:nvPr>
        </p:nvSpPr>
        <p:spPr/>
        <p:txBody>
          <a:bodyPr/>
          <a:lstStyle/>
          <a:p>
            <a:pPr marL="0" indent="0">
              <a:buNone/>
              <a:defRPr sz="2600" b="1"/>
            </a:pPr>
            <a:r>
              <a:rPr dirty="0">
                <a:latin typeface="Consolas" panose="020B0609020204030204" pitchFamily="49" charset="0"/>
              </a:rPr>
              <a:t>Q-Learning Hyperparameters</a:t>
            </a:r>
          </a:p>
          <a:p>
            <a:pPr marL="457200" lvl="1" indent="0">
              <a:buNone/>
              <a:defRPr sz="2000"/>
            </a:pPr>
            <a:r>
              <a:rPr dirty="0">
                <a:latin typeface="Consolas" panose="020B0609020204030204" pitchFamily="49" charset="0"/>
              </a:rPr>
              <a:t>  • Episodes: 1,000</a:t>
            </a:r>
          </a:p>
          <a:p>
            <a:pPr marL="457200" lvl="1" indent="0">
              <a:buNone/>
              <a:defRPr sz="2000"/>
            </a:pPr>
            <a:r>
              <a:rPr dirty="0">
                <a:latin typeface="Consolas" panose="020B0609020204030204" pitchFamily="49" charset="0"/>
              </a:rPr>
              <a:t> • Learning Rate (α): 0.1</a:t>
            </a:r>
          </a:p>
          <a:p>
            <a:pPr marL="457200" lvl="1" indent="0">
              <a:buNone/>
              <a:defRPr sz="2000"/>
            </a:pPr>
            <a:r>
              <a:rPr dirty="0">
                <a:latin typeface="Consolas" panose="020B0609020204030204" pitchFamily="49" charset="0"/>
              </a:rPr>
              <a:t> • Discount Factor (γ): 0.95</a:t>
            </a:r>
          </a:p>
          <a:p>
            <a:pPr marL="457200" lvl="1" indent="0">
              <a:buNone/>
              <a:defRPr sz="2000"/>
            </a:pPr>
            <a:r>
              <a:rPr dirty="0">
                <a:latin typeface="Consolas" panose="020B0609020204030204" pitchFamily="49" charset="0"/>
              </a:rPr>
              <a:t>• Epsilon: 1.0 → 0.01 (decay: 0.995)</a:t>
            </a:r>
          </a:p>
          <a:p>
            <a:pPr marL="0" indent="0">
              <a:buNone/>
            </a:pPr>
            <a:br>
              <a:rPr dirty="0">
                <a:latin typeface="Consolas" panose="020B0609020204030204" pitchFamily="49" charset="0"/>
              </a:rPr>
            </a:br>
            <a:r>
              <a:rPr dirty="0">
                <a:latin typeface="Consolas" panose="020B0609020204030204" pitchFamily="49" charset="0"/>
              </a:rPr>
              <a:t>Training Strategy:</a:t>
            </a:r>
          </a:p>
          <a:p>
            <a:pPr lvl="1">
              <a:buFont typeface="Arial" panose="020B0604020202020204" pitchFamily="34" charset="0"/>
              <a:buChar char="•"/>
              <a:defRPr sz="1800"/>
            </a:pPr>
            <a:r>
              <a:rPr dirty="0">
                <a:latin typeface="Consolas" panose="020B0609020204030204" pitchFamily="49" charset="0"/>
              </a:rPr>
              <a:t>Epsilon-greedy: Start with exploration, gradually exploit</a:t>
            </a:r>
          </a:p>
          <a:p>
            <a:pPr lvl="1">
              <a:buFont typeface="Arial" panose="020B0604020202020204" pitchFamily="34" charset="0"/>
              <a:buChar char="•"/>
              <a:defRPr sz="1800"/>
            </a:pPr>
            <a:r>
              <a:rPr dirty="0">
                <a:latin typeface="Consolas" panose="020B0609020204030204" pitchFamily="49" charset="0"/>
              </a:rPr>
              <a:t>Shuffle data each episode for diversity</a:t>
            </a:r>
          </a:p>
          <a:p>
            <a:pPr lvl="1">
              <a:buFont typeface="Arial" panose="020B0604020202020204" pitchFamily="34" charset="0"/>
              <a:buChar char="•"/>
              <a:defRPr sz="1800"/>
            </a:pPr>
            <a:r>
              <a:rPr dirty="0">
                <a:latin typeface="Consolas" panose="020B0609020204030204" pitchFamily="49" charset="0"/>
              </a:rPr>
              <a:t>Update Q-values after each article classification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548640"/>
          </a:xfrm>
          <a:prstGeom prst="rect">
            <a:avLst/>
          </a:prstGeom>
          <a:noFill/>
        </p:spPr>
        <p:txBody>
          <a:bodyPr wrap="none">
            <a:spAutoFit/>
          </a:bodyPr>
          <a:lstStyle/>
          <a:p>
            <a:pPr>
              <a:defRPr sz="2800" b="1">
                <a:solidFill>
                  <a:srgbClr val="003366"/>
                </a:solidFill>
              </a:defRPr>
            </a:pPr>
            <a:r>
              <a:t>RL Training: Reward Progression</a:t>
            </a:r>
          </a:p>
        </p:txBody>
      </p:sp>
      <p:sp>
        <p:nvSpPr>
          <p:cNvPr id="4" name="TextBox 3"/>
          <p:cNvSpPr txBox="1"/>
          <p:nvPr/>
        </p:nvSpPr>
        <p:spPr>
          <a:xfrm>
            <a:off x="293915" y="5526315"/>
            <a:ext cx="8671086" cy="1200329"/>
          </a:xfrm>
          <a:prstGeom prst="rect">
            <a:avLst/>
          </a:prstGeom>
          <a:noFill/>
        </p:spPr>
        <p:txBody>
          <a:bodyPr wrap="square">
            <a:spAutoFit/>
          </a:bodyPr>
          <a:lstStyle/>
          <a:p>
            <a:r>
              <a:rPr dirty="0">
                <a:latin typeface="Consolas" panose="020B0609020204030204" pitchFamily="49" charset="0"/>
              </a:rPr>
              <a:t>The moving average (blue line) smooths out episode-to-episode</a:t>
            </a:r>
            <a:r>
              <a:rPr lang="en-US" dirty="0">
                <a:latin typeface="Consolas" panose="020B0609020204030204" pitchFamily="49" charset="0"/>
              </a:rPr>
              <a:t> </a:t>
            </a:r>
            <a:r>
              <a:rPr dirty="0">
                <a:latin typeface="Consolas" panose="020B0609020204030204" pitchFamily="49" charset="0"/>
              </a:rPr>
              <a:t>variance, revealing a clear upward trend. The agent learned to make increasingly better decisions, with accuracy improving from 67% to 97% over 1000 episodes.</a:t>
            </a:r>
          </a:p>
        </p:txBody>
      </p:sp>
      <p:pic>
        <p:nvPicPr>
          <p:cNvPr id="5" name="Picture 4" descr="image.png"/>
          <p:cNvPicPr>
            <a:picLocks noChangeAspect="1"/>
          </p:cNvPicPr>
          <p:nvPr/>
        </p:nvPicPr>
        <p:blipFill>
          <a:blip r:embed="rId2"/>
          <a:stretch>
            <a:fillRect/>
          </a:stretch>
        </p:blipFill>
        <p:spPr>
          <a:xfrm>
            <a:off x="293914" y="731520"/>
            <a:ext cx="8315983" cy="4123050"/>
          </a:xfrm>
          <a:prstGeom prst="rect">
            <a:avLst/>
          </a:prstGeom>
        </p:spPr>
      </p:pic>
      <p:sp>
        <p:nvSpPr>
          <p:cNvPr id="6" name="TextBox 5">
            <a:extLst>
              <a:ext uri="{FF2B5EF4-FFF2-40B4-BE49-F238E27FC236}">
                <a16:creationId xmlns:a16="http://schemas.microsoft.com/office/drawing/2014/main" id="{6BA18E78-78ED-4120-A462-76C6D7B0532A}"/>
              </a:ext>
            </a:extLst>
          </p:cNvPr>
          <p:cNvSpPr txBox="1"/>
          <p:nvPr/>
        </p:nvSpPr>
        <p:spPr>
          <a:xfrm>
            <a:off x="680192" y="4841641"/>
            <a:ext cx="8006608" cy="523220"/>
          </a:xfrm>
          <a:prstGeom prst="rect">
            <a:avLst/>
          </a:prstGeom>
          <a:noFill/>
        </p:spPr>
        <p:txBody>
          <a:bodyPr wrap="square">
            <a:spAutoFit/>
          </a:bodyPr>
          <a:lstStyle/>
          <a:p>
            <a:pPr algn="ctr">
              <a:defRPr sz="1400" i="1">
                <a:solidFill>
                  <a:srgbClr val="404040"/>
                </a:solidFill>
              </a:defRPr>
            </a:pPr>
            <a:r>
              <a:rPr lang="en-US" dirty="0">
                <a:latin typeface="Consolas" panose="020B0609020204030204" pitchFamily="49" charset="0"/>
              </a:rPr>
              <a:t>Q-Learning Reward Curve - Shows steady improvement from initial reward of ~825 to final reward of ~1850.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548640"/>
          </a:xfrm>
          <a:prstGeom prst="rect">
            <a:avLst/>
          </a:prstGeom>
          <a:noFill/>
        </p:spPr>
        <p:txBody>
          <a:bodyPr wrap="none">
            <a:spAutoFit/>
          </a:bodyPr>
          <a:lstStyle/>
          <a:p>
            <a:pPr>
              <a:defRPr sz="2800" b="1">
                <a:solidFill>
                  <a:srgbClr val="003366"/>
                </a:solidFill>
              </a:defRPr>
            </a:pPr>
            <a:r>
              <a:rPr dirty="0"/>
              <a:t>RL Agent: Action Distribution</a:t>
            </a:r>
          </a:p>
        </p:txBody>
      </p:sp>
      <p:sp>
        <p:nvSpPr>
          <p:cNvPr id="4" name="TextBox 3"/>
          <p:cNvSpPr txBox="1"/>
          <p:nvPr/>
        </p:nvSpPr>
        <p:spPr>
          <a:xfrm>
            <a:off x="372853" y="4704264"/>
            <a:ext cx="8313947" cy="738664"/>
          </a:xfrm>
          <a:prstGeom prst="rect">
            <a:avLst/>
          </a:prstGeom>
          <a:noFill/>
        </p:spPr>
        <p:txBody>
          <a:bodyPr wrap="square">
            <a:spAutoFit/>
          </a:bodyPr>
          <a:lstStyle/>
          <a:p>
            <a:pPr algn="ctr">
              <a:defRPr sz="1400" i="1">
                <a:solidFill>
                  <a:srgbClr val="404040"/>
                </a:solidFill>
              </a:defRPr>
            </a:pPr>
            <a:r>
              <a:rPr dirty="0">
                <a:latin typeface="Consolas" panose="020B0609020204030204" pitchFamily="49" charset="0"/>
              </a:rPr>
              <a:t>Left: Final episode action distribution. Right: Average over last 100 episodes. The agent learned to primarily use the ML model (highest accuracy), use DL sparingly, and escalate minimally, demonstrating intelligent model selection.</a:t>
            </a:r>
          </a:p>
        </p:txBody>
      </p:sp>
      <p:pic>
        <p:nvPicPr>
          <p:cNvPr id="5" name="Picture 4" descr="image.png"/>
          <p:cNvPicPr>
            <a:picLocks noChangeAspect="1"/>
          </p:cNvPicPr>
          <p:nvPr/>
        </p:nvPicPr>
        <p:blipFill>
          <a:blip r:embed="rId2"/>
          <a:stretch>
            <a:fillRect/>
          </a:stretch>
        </p:blipFill>
        <p:spPr>
          <a:xfrm>
            <a:off x="372853" y="1327987"/>
            <a:ext cx="8194204" cy="2884784"/>
          </a:xfrm>
          <a:prstGeom prst="rect">
            <a:avLst/>
          </a:prstGeom>
        </p:spPr>
      </p:pic>
      <p:sp>
        <p:nvSpPr>
          <p:cNvPr id="6" name="TextBox 5">
            <a:extLst>
              <a:ext uri="{FF2B5EF4-FFF2-40B4-BE49-F238E27FC236}">
                <a16:creationId xmlns:a16="http://schemas.microsoft.com/office/drawing/2014/main" id="{7D7D9FB8-CBDD-41C1-9D13-22578C702505}"/>
              </a:ext>
            </a:extLst>
          </p:cNvPr>
          <p:cNvSpPr txBox="1"/>
          <p:nvPr/>
        </p:nvSpPr>
        <p:spPr>
          <a:xfrm>
            <a:off x="457200" y="806031"/>
            <a:ext cx="6400799" cy="307777"/>
          </a:xfrm>
          <a:prstGeom prst="rect">
            <a:avLst/>
          </a:prstGeom>
          <a:noFill/>
        </p:spPr>
        <p:txBody>
          <a:bodyPr wrap="square">
            <a:spAutoFit/>
          </a:bodyPr>
          <a:lstStyle/>
          <a:p>
            <a:pPr algn="ctr">
              <a:defRPr sz="1400" i="1">
                <a:solidFill>
                  <a:srgbClr val="404040"/>
                </a:solidFill>
              </a:defRPr>
            </a:pPr>
            <a:r>
              <a:rPr lang="en-US" dirty="0"/>
              <a:t>Action Distribution Over Training - Shows how the agent's decision-making evolved.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pPr>
              <a:defRPr sz="4400"/>
            </a:pPr>
            <a:r>
              <a:rPr sz="2800" b="1" dirty="0">
                <a:solidFill>
                  <a:srgbClr val="003366"/>
                </a:solidFill>
                <a:latin typeface="+mn-lt"/>
                <a:ea typeface="+mn-ea"/>
                <a:cs typeface="+mn-cs"/>
              </a:rPr>
              <a:t>Performance Comparison</a:t>
            </a:r>
          </a:p>
        </p:txBody>
      </p:sp>
      <p:sp>
        <p:nvSpPr>
          <p:cNvPr id="3" name="Content Placeholder 2"/>
          <p:cNvSpPr>
            <a:spLocks noGrp="1"/>
          </p:cNvSpPr>
          <p:nvPr>
            <p:ph idx="1"/>
          </p:nvPr>
        </p:nvSpPr>
        <p:spPr/>
        <p:txBody>
          <a:bodyPr>
            <a:noAutofit/>
          </a:bodyPr>
          <a:lstStyle/>
          <a:p>
            <a:pPr>
              <a:defRPr sz="2800" b="1"/>
            </a:pPr>
            <a:r>
              <a:rPr sz="2000" dirty="0">
                <a:latin typeface="Consolas" panose="020B0609020204030204" pitchFamily="49" charset="0"/>
              </a:rPr>
              <a:t>Model Accuracy Comparison</a:t>
            </a:r>
          </a:p>
          <a:p>
            <a:pPr>
              <a:buFont typeface="Wingdings" panose="05000000000000000000" pitchFamily="2" charset="2"/>
              <a:buChar char="ü"/>
              <a:defRPr sz="2200" b="1"/>
            </a:pPr>
            <a:r>
              <a:rPr sz="1800" dirty="0">
                <a:latin typeface="Consolas" panose="020B0609020204030204" pitchFamily="49" charset="0"/>
              </a:rPr>
              <a:t>ML Model (Logistic Regression)</a:t>
            </a:r>
            <a:endParaRPr lang="en-US" sz="1800" dirty="0">
              <a:latin typeface="Consolas" panose="020B0609020204030204" pitchFamily="49" charset="0"/>
            </a:endParaRPr>
          </a:p>
          <a:p>
            <a:pPr>
              <a:buFont typeface="Wingdings" panose="05000000000000000000" pitchFamily="2" charset="2"/>
              <a:buChar char="ü"/>
              <a:defRPr sz="2200" b="1"/>
            </a:pPr>
            <a:r>
              <a:rPr lang="en-US" sz="1800" dirty="0">
                <a:latin typeface="Consolas" panose="020B0609020204030204" pitchFamily="49" charset="0"/>
              </a:rPr>
              <a:t>97.33% Accuracy</a:t>
            </a:r>
          </a:p>
          <a:p>
            <a:pPr>
              <a:buFont typeface="Wingdings" panose="05000000000000000000" pitchFamily="2" charset="2"/>
              <a:buChar char="ü"/>
              <a:defRPr sz="2200" b="1"/>
            </a:pPr>
            <a:r>
              <a:rPr lang="en-US" sz="1800" dirty="0">
                <a:latin typeface="Consolas" panose="020B0609020204030204" pitchFamily="49" charset="0"/>
              </a:rPr>
              <a:t>DL Model (LSTM)</a:t>
            </a:r>
            <a:endParaRPr sz="1800" dirty="0">
              <a:latin typeface="Consolas" panose="020B0609020204030204" pitchFamily="49" charset="0"/>
            </a:endParaRPr>
          </a:p>
          <a:p>
            <a:pPr marL="0" indent="0">
              <a:buNone/>
            </a:pPr>
            <a:br>
              <a:rPr sz="2400" dirty="0">
                <a:latin typeface="Consolas" panose="020B0609020204030204" pitchFamily="49" charset="0"/>
              </a:rPr>
            </a:br>
            <a:r>
              <a:rPr sz="2400" b="1" dirty="0">
                <a:latin typeface="Consolas" panose="020B0609020204030204" pitchFamily="49" charset="0"/>
              </a:rPr>
              <a:t>RL Agent (Q-Learning)</a:t>
            </a:r>
            <a:endParaRPr lang="en-US" sz="2400" b="1" dirty="0">
              <a:latin typeface="Consolas" panose="020B0609020204030204" pitchFamily="49" charset="0"/>
            </a:endParaRPr>
          </a:p>
          <a:p>
            <a:pPr>
              <a:buFont typeface="Wingdings" panose="05000000000000000000" pitchFamily="2" charset="2"/>
              <a:buChar char="q"/>
            </a:pPr>
            <a:r>
              <a:rPr lang="en-US" sz="2400" dirty="0">
                <a:latin typeface="Consolas" panose="020B0609020204030204" pitchFamily="49" charset="0"/>
              </a:rPr>
              <a:t>98.00% Accuracy as the Best</a:t>
            </a:r>
            <a:endParaRPr sz="2400" dirty="0">
              <a:latin typeface="Consolas" panose="020B0609020204030204" pitchFamily="49" charset="0"/>
            </a:endParaRPr>
          </a:p>
          <a:p>
            <a:pPr marL="0" indent="0">
              <a:buNone/>
            </a:pPr>
            <a:br>
              <a:rPr sz="2400" dirty="0">
                <a:latin typeface="Consolas" panose="020B0609020204030204" pitchFamily="49" charset="0"/>
              </a:rPr>
            </a:br>
            <a:r>
              <a:rPr sz="2400" b="1" dirty="0">
                <a:latin typeface="Consolas" panose="020B0609020204030204" pitchFamily="49" charset="0"/>
              </a:rPr>
              <a:t>Key Insight: </a:t>
            </a:r>
            <a:r>
              <a:rPr sz="2400" dirty="0">
                <a:latin typeface="Consolas" panose="020B0609020204030204" pitchFamily="49" charset="0"/>
              </a:rPr>
              <a:t>RL agent outperforms individual models by intelligently selecting the best model for each article!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548640"/>
          </a:xfrm>
          <a:prstGeom prst="rect">
            <a:avLst/>
          </a:prstGeom>
          <a:noFill/>
        </p:spPr>
        <p:txBody>
          <a:bodyPr wrap="none">
            <a:spAutoFit/>
          </a:bodyPr>
          <a:lstStyle/>
          <a:p>
            <a:pPr>
              <a:defRPr sz="2800" b="1">
                <a:solidFill>
                  <a:srgbClr val="003366"/>
                </a:solidFill>
              </a:defRPr>
            </a:pPr>
            <a:r>
              <a:rPr dirty="0"/>
              <a:t>Performance: Accuracy Comparison</a:t>
            </a:r>
          </a:p>
        </p:txBody>
      </p:sp>
      <p:sp>
        <p:nvSpPr>
          <p:cNvPr id="4" name="TextBox 3"/>
          <p:cNvSpPr txBox="1"/>
          <p:nvPr/>
        </p:nvSpPr>
        <p:spPr>
          <a:xfrm>
            <a:off x="187505" y="988277"/>
            <a:ext cx="8390438" cy="307777"/>
          </a:xfrm>
          <a:prstGeom prst="rect">
            <a:avLst/>
          </a:prstGeom>
          <a:noFill/>
        </p:spPr>
        <p:txBody>
          <a:bodyPr wrap="none">
            <a:spAutoFit/>
          </a:bodyPr>
          <a:lstStyle/>
          <a:p>
            <a:pPr algn="ctr">
              <a:defRPr sz="1400" i="1">
                <a:solidFill>
                  <a:srgbClr val="404040"/>
                </a:solidFill>
              </a:defRPr>
            </a:pPr>
            <a:r>
              <a:rPr lang="en-US" dirty="0"/>
              <a:t>Model Accuracy Comparison - Bar chart comparing ML (97.33%), DL (34.00%), and RL Agent (98.00%) accuracies.</a:t>
            </a:r>
          </a:p>
        </p:txBody>
      </p:sp>
      <p:pic>
        <p:nvPicPr>
          <p:cNvPr id="5" name="Picture 4" descr="accuracy_comparison.png"/>
          <p:cNvPicPr>
            <a:picLocks noChangeAspect="1"/>
          </p:cNvPicPr>
          <p:nvPr/>
        </p:nvPicPr>
        <p:blipFill>
          <a:blip r:embed="rId2"/>
          <a:stretch>
            <a:fillRect/>
          </a:stretch>
        </p:blipFill>
        <p:spPr>
          <a:xfrm>
            <a:off x="-1" y="1539243"/>
            <a:ext cx="8695133" cy="3061137"/>
          </a:xfrm>
          <a:prstGeom prst="rect">
            <a:avLst/>
          </a:prstGeom>
        </p:spPr>
      </p:pic>
      <p:sp>
        <p:nvSpPr>
          <p:cNvPr id="6" name="TextBox 5">
            <a:extLst>
              <a:ext uri="{FF2B5EF4-FFF2-40B4-BE49-F238E27FC236}">
                <a16:creationId xmlns:a16="http://schemas.microsoft.com/office/drawing/2014/main" id="{EB3652BD-26FE-41A3-8509-031DAAA74E7B}"/>
              </a:ext>
            </a:extLst>
          </p:cNvPr>
          <p:cNvSpPr txBox="1"/>
          <p:nvPr/>
        </p:nvSpPr>
        <p:spPr>
          <a:xfrm>
            <a:off x="425767" y="4892197"/>
            <a:ext cx="7913914" cy="1477328"/>
          </a:xfrm>
          <a:prstGeom prst="rect">
            <a:avLst/>
          </a:prstGeom>
          <a:noFill/>
        </p:spPr>
        <p:txBody>
          <a:bodyPr wrap="square">
            <a:spAutoFit/>
          </a:bodyPr>
          <a:lstStyle/>
          <a:p>
            <a:r>
              <a:rPr lang="en-US" dirty="0">
                <a:latin typeface="Consolas" panose="020B0609020204030204" pitchFamily="49" charset="0"/>
              </a:rPr>
              <a:t>Right panel shows RL agent's action distribution during evaluation. The RL agent achieved the highest accuracy by learning when to use ML (which has superior performance) versus when to escalate, demonstrating the value of adaptive model selection.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7"/>
            <a:ext cx="8229600" cy="1143000"/>
          </a:xfrm>
        </p:spPr>
        <p:txBody>
          <a:bodyPr>
            <a:normAutofit/>
          </a:bodyPr>
          <a:lstStyle/>
          <a:p>
            <a:pPr>
              <a:defRPr sz="4400"/>
            </a:pPr>
            <a:r>
              <a:rPr sz="2800" b="1" dirty="0">
                <a:solidFill>
                  <a:srgbClr val="003366"/>
                </a:solidFill>
                <a:latin typeface="+mn-lt"/>
                <a:ea typeface="+mn-ea"/>
                <a:cs typeface="+mn-cs"/>
              </a:rPr>
              <a:t>Key Findings</a:t>
            </a:r>
          </a:p>
        </p:txBody>
      </p:sp>
      <p:sp>
        <p:nvSpPr>
          <p:cNvPr id="3" name="Content Placeholder 2"/>
          <p:cNvSpPr>
            <a:spLocks noGrp="1"/>
          </p:cNvSpPr>
          <p:nvPr>
            <p:ph idx="1"/>
          </p:nvPr>
        </p:nvSpPr>
        <p:spPr/>
        <p:txBody>
          <a:bodyPr/>
          <a:lstStyle/>
          <a:p>
            <a:pPr marL="0" indent="0">
              <a:buNone/>
              <a:defRPr sz="2600" b="1"/>
            </a:pPr>
            <a:r>
              <a:rPr dirty="0">
                <a:latin typeface="Consolas" panose="020B0609020204030204" pitchFamily="49" charset="0"/>
              </a:rPr>
              <a:t>Project Outcomes</a:t>
            </a:r>
          </a:p>
          <a:p>
            <a:pPr lvl="1">
              <a:defRPr sz="1800"/>
            </a:pPr>
            <a:r>
              <a:rPr sz="1800" dirty="0">
                <a:latin typeface="Consolas" panose="020B0609020204030204" pitchFamily="49" charset="0"/>
              </a:rPr>
              <a:t>All four parts successfully implemented</a:t>
            </a:r>
          </a:p>
          <a:p>
            <a:pPr lvl="1">
              <a:defRPr sz="1800"/>
            </a:pPr>
            <a:r>
              <a:rPr sz="1800" dirty="0">
                <a:latin typeface="Consolas" panose="020B0609020204030204" pitchFamily="49" charset="0"/>
              </a:rPr>
              <a:t>Classical ML significantly outperformed DL (97% vs 34%)</a:t>
            </a:r>
          </a:p>
          <a:p>
            <a:pPr lvl="1">
              <a:defRPr sz="1800"/>
            </a:pPr>
            <a:r>
              <a:rPr sz="1800" dirty="0">
                <a:latin typeface="Consolas" panose="020B0609020204030204" pitchFamily="49" charset="0"/>
              </a:rPr>
              <a:t>Topic clustering revealed meaningful semantic patterns</a:t>
            </a:r>
          </a:p>
          <a:p>
            <a:pPr lvl="1">
              <a:defRPr sz="1800"/>
            </a:pPr>
            <a:r>
              <a:rPr sz="1800" dirty="0">
                <a:latin typeface="Consolas" panose="020B0609020204030204" pitchFamily="49" charset="0"/>
              </a:rPr>
              <a:t>RL agent achieved 98% accuracy through intelligent selection</a:t>
            </a:r>
          </a:p>
          <a:p>
            <a:pPr marL="0" indent="0">
              <a:buNone/>
            </a:pPr>
            <a:br>
              <a:rPr dirty="0">
                <a:latin typeface="Consolas" panose="020B0609020204030204" pitchFamily="49" charset="0"/>
              </a:rPr>
            </a:br>
            <a:r>
              <a:rPr dirty="0">
                <a:latin typeface="Consolas" panose="020B0609020204030204" pitchFamily="49" charset="0"/>
              </a:rPr>
              <a:t>Challenges Identified:</a:t>
            </a:r>
          </a:p>
          <a:p>
            <a:pPr lvl="1">
              <a:defRPr sz="1800"/>
            </a:pPr>
            <a:r>
              <a:rPr dirty="0">
                <a:latin typeface="Consolas" panose="020B0609020204030204" pitchFamily="49" charset="0"/>
              </a:rPr>
              <a:t>  • LSTM model needs hyperparameter optimization</a:t>
            </a:r>
          </a:p>
          <a:p>
            <a:pPr lvl="1">
              <a:defRPr sz="1800"/>
            </a:pPr>
            <a:r>
              <a:rPr dirty="0">
                <a:latin typeface="Consolas" panose="020B0609020204030204" pitchFamily="49" charset="0"/>
              </a:rPr>
              <a:t>  • Limited dataset size may affect DL model performance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7"/>
            <a:ext cx="8229600" cy="1143000"/>
          </a:xfrm>
        </p:spPr>
        <p:txBody>
          <a:bodyPr>
            <a:normAutofit/>
          </a:bodyPr>
          <a:lstStyle/>
          <a:p>
            <a:pPr>
              <a:defRPr sz="4400"/>
            </a:pPr>
            <a:r>
              <a:rPr sz="2800" b="1" dirty="0">
                <a:solidFill>
                  <a:srgbClr val="003366"/>
                </a:solidFill>
                <a:latin typeface="+mn-lt"/>
                <a:ea typeface="+mn-ea"/>
                <a:cs typeface="+mn-cs"/>
              </a:rPr>
              <a:t>Conclusion</a:t>
            </a:r>
          </a:p>
        </p:txBody>
      </p:sp>
      <p:sp>
        <p:nvSpPr>
          <p:cNvPr id="3" name="Content Placeholder 2"/>
          <p:cNvSpPr>
            <a:spLocks noGrp="1"/>
          </p:cNvSpPr>
          <p:nvPr>
            <p:ph idx="1"/>
          </p:nvPr>
        </p:nvSpPr>
        <p:spPr/>
        <p:txBody>
          <a:bodyPr/>
          <a:lstStyle/>
          <a:p>
            <a:pPr marL="0" indent="0">
              <a:buNone/>
              <a:defRPr sz="2600" b="1"/>
            </a:pPr>
            <a:r>
              <a:rPr dirty="0">
                <a:latin typeface="Consolas" panose="020B0609020204030204" pitchFamily="49" charset="0"/>
              </a:rPr>
              <a:t>Summary</a:t>
            </a:r>
          </a:p>
          <a:p>
            <a:pPr>
              <a:defRPr sz="2000"/>
            </a:pPr>
            <a:r>
              <a:rPr dirty="0">
                <a:latin typeface="Consolas" panose="020B0609020204030204" pitchFamily="49" charset="0"/>
              </a:rPr>
              <a:t>This project successfully demonstrated:</a:t>
            </a:r>
          </a:p>
          <a:p>
            <a:pPr marL="457200" lvl="1" indent="0">
              <a:buNone/>
              <a:defRPr sz="1800"/>
            </a:pPr>
            <a:r>
              <a:rPr dirty="0">
                <a:latin typeface="Consolas" panose="020B0609020204030204" pitchFamily="49" charset="0"/>
              </a:rPr>
              <a:t>  → Effective news classification using classical ML</a:t>
            </a:r>
          </a:p>
          <a:p>
            <a:pPr marL="457200" lvl="1" indent="0">
              <a:buNone/>
              <a:defRPr sz="1800"/>
            </a:pPr>
            <a:r>
              <a:rPr dirty="0">
                <a:latin typeface="Consolas" panose="020B0609020204030204" pitchFamily="49" charset="0"/>
              </a:rPr>
              <a:t>  → Unsupervised topic discovery through clustering</a:t>
            </a:r>
          </a:p>
          <a:p>
            <a:pPr marL="457200" lvl="1" indent="0">
              <a:buNone/>
              <a:defRPr sz="1800"/>
            </a:pPr>
            <a:r>
              <a:rPr dirty="0">
                <a:latin typeface="Consolas" panose="020B0609020204030204" pitchFamily="49" charset="0"/>
              </a:rPr>
              <a:t>  → Intelligent RL-based decision making</a:t>
            </a:r>
          </a:p>
          <a:p>
            <a:pPr marL="0" indent="0">
              <a:buNone/>
            </a:pPr>
            <a:br>
              <a:rPr dirty="0">
                <a:latin typeface="Consolas" panose="020B0609020204030204" pitchFamily="49" charset="0"/>
              </a:rPr>
            </a:br>
            <a:r>
              <a:rPr dirty="0">
                <a:latin typeface="Consolas" panose="020B0609020204030204" pitchFamily="49" charset="0"/>
              </a:rPr>
              <a:t>Future Improvements:</a:t>
            </a:r>
          </a:p>
          <a:p>
            <a:pPr marL="457200" lvl="1" indent="0">
              <a:buNone/>
              <a:defRPr sz="1800"/>
            </a:pPr>
            <a:r>
              <a:rPr dirty="0">
                <a:latin typeface="Consolas" panose="020B0609020204030204" pitchFamily="49" charset="0"/>
              </a:rPr>
              <a:t>  • Hyperparameter tuning for DL models</a:t>
            </a:r>
          </a:p>
          <a:p>
            <a:pPr marL="457200" lvl="1" indent="0">
              <a:buNone/>
              <a:defRPr sz="1800"/>
            </a:pPr>
            <a:r>
              <a:rPr dirty="0">
                <a:latin typeface="Consolas" panose="020B0609020204030204" pitchFamily="49" charset="0"/>
              </a:rPr>
              <a:t>  • Transformer models (BERT, GPT) for better text understanding</a:t>
            </a:r>
          </a:p>
          <a:p>
            <a:pPr marL="457200" lvl="1" indent="0">
              <a:buNone/>
              <a:defRPr sz="1800"/>
            </a:pPr>
            <a:r>
              <a:rPr dirty="0">
                <a:latin typeface="Consolas" panose="020B0609020204030204" pitchFamily="49" charset="0"/>
              </a:rPr>
              <a:t> • Deep Q-Networks for continuous state representations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0" y="2286000"/>
            <a:ext cx="5486400" cy="1828800"/>
          </a:xfrm>
          <a:prstGeom prst="rect">
            <a:avLst/>
          </a:prstGeom>
          <a:noFill/>
        </p:spPr>
        <p:txBody>
          <a:bodyPr wrap="none">
            <a:spAutoFit/>
          </a:bodyPr>
          <a:lstStyle/>
          <a:p>
            <a:pPr algn="ctr">
              <a:defRPr sz="7200" b="1">
                <a:solidFill>
                  <a:srgbClr val="003366"/>
                </a:solidFill>
              </a:defRPr>
            </a:pPr>
            <a:r>
              <a:t>Thank You!</a:t>
            </a:r>
          </a:p>
        </p:txBody>
      </p:sp>
      <p:sp>
        <p:nvSpPr>
          <p:cNvPr id="3" name="TextBox 2"/>
          <p:cNvSpPr txBox="1"/>
          <p:nvPr/>
        </p:nvSpPr>
        <p:spPr>
          <a:xfrm>
            <a:off x="1828800" y="4572000"/>
            <a:ext cx="5486400" cy="914400"/>
          </a:xfrm>
          <a:prstGeom prst="rect">
            <a:avLst/>
          </a:prstGeom>
          <a:noFill/>
        </p:spPr>
        <p:txBody>
          <a:bodyPr wrap="none">
            <a:spAutoFit/>
          </a:bodyPr>
          <a:lstStyle/>
          <a:p>
            <a:pPr algn="ctr">
              <a:defRPr sz="3200">
                <a:solidFill>
                  <a:srgbClr val="1F4E79"/>
                </a:solidFill>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TotalTime>
  <Words>1276</Words>
  <Application>Microsoft Office PowerPoint</Application>
  <PresentationFormat>On-screen Show (4:3)</PresentationFormat>
  <Paragraphs>162</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Consolas</vt:lpstr>
      <vt:lpstr>Wingdings</vt:lpstr>
      <vt:lpstr>Office Theme</vt:lpstr>
      <vt:lpstr>PowerPoint Presentation</vt:lpstr>
      <vt:lpstr>Assignment Overview</vt:lpstr>
      <vt:lpstr>Problem Statement</vt:lpstr>
      <vt:lpstr>Part A: Dataset Overview</vt:lpstr>
      <vt:lpstr>Preprocessing Pipeline: </vt:lpstr>
      <vt:lpstr>PowerPoint Presentation</vt:lpstr>
      <vt:lpstr>Part B: Two News Classifiers</vt:lpstr>
      <vt:lpstr>ML Model: Logistic Regression Results</vt:lpstr>
      <vt:lpstr>PowerPoint Presentation</vt:lpstr>
      <vt:lpstr>DL Model: LSTM Results</vt:lpstr>
      <vt:lpstr>PowerPoint Presentation</vt:lpstr>
      <vt:lpstr>PowerPoint Presentation</vt:lpstr>
      <vt:lpstr>Part C: Topic Clustering</vt:lpstr>
      <vt:lpstr>PowerPoint Presentation</vt:lpstr>
      <vt:lpstr>PowerPoint Presentation</vt:lpstr>
      <vt:lpstr>Part D: RL Decision Agent</vt:lpstr>
      <vt:lpstr>Reward Function Design</vt:lpstr>
      <vt:lpstr>RL Training Configuration</vt:lpstr>
      <vt:lpstr>PowerPoint Presentation</vt:lpstr>
      <vt:lpstr>PowerPoint Presentation</vt:lpstr>
      <vt:lpstr>Performance Comparison</vt:lpstr>
      <vt:lpstr>PowerPoint Presentation</vt:lpstr>
      <vt:lpstr>Key Findings</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arineitwe thomas</cp:lastModifiedBy>
  <cp:revision>12</cp:revision>
  <dcterms:created xsi:type="dcterms:W3CDTF">2013-01-27T09:14:16Z</dcterms:created>
  <dcterms:modified xsi:type="dcterms:W3CDTF">2025-12-13T06:58:01Z</dcterms:modified>
  <cp:category/>
</cp:coreProperties>
</file>